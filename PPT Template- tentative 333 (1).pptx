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5"/>
  </p:notesMasterIdLst>
  <p:sldIdLst>
    <p:sldId id="256" r:id="rId2"/>
    <p:sldId id="566" r:id="rId3"/>
    <p:sldId id="567" r:id="rId4"/>
    <p:sldId id="568" r:id="rId5"/>
    <p:sldId id="569" r:id="rId6"/>
    <p:sldId id="570" r:id="rId7"/>
    <p:sldId id="648" r:id="rId8"/>
    <p:sldId id="649" r:id="rId9"/>
    <p:sldId id="650" r:id="rId10"/>
    <p:sldId id="651" r:id="rId11"/>
    <p:sldId id="652" r:id="rId12"/>
    <p:sldId id="653" r:id="rId13"/>
    <p:sldId id="654" r:id="rId14"/>
    <p:sldId id="665" r:id="rId15"/>
    <p:sldId id="656" r:id="rId16"/>
    <p:sldId id="657" r:id="rId17"/>
    <p:sldId id="658" r:id="rId18"/>
    <p:sldId id="659" r:id="rId19"/>
    <p:sldId id="660" r:id="rId20"/>
    <p:sldId id="661" r:id="rId21"/>
    <p:sldId id="662" r:id="rId22"/>
    <p:sldId id="571" r:id="rId23"/>
    <p:sldId id="663"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66"/>
    <a:srgbClr val="66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117" d="100"/>
          <a:sy n="117" d="100"/>
        </p:scale>
        <p:origin x="1470" y="90"/>
      </p:cViewPr>
      <p:guideLst/>
    </p:cSldViewPr>
  </p:slideViewPr>
  <p:notesTextViewPr>
    <p:cViewPr>
      <p:scale>
        <a:sx n="1" d="1"/>
        <a:sy n="1" d="1"/>
      </p:scale>
      <p:origin x="0" y="0"/>
    </p:cViewPr>
  </p:notesTextViewPr>
  <p:sorterViewPr>
    <p:cViewPr varScale="1">
      <p:scale>
        <a:sx n="100" d="100"/>
        <a:sy n="100" d="100"/>
      </p:scale>
      <p:origin x="0" y="-5136"/>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E6DAEB0-71B9-45A8-8023-EB29BCC0E3F6}" type="datetimeFigureOut">
              <a:rPr lang="en-IN" smtClean="0"/>
              <a:t>13-03-2026</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96A6E0-54B3-4F82-BCC5-63812BCE77EF}" type="slidenum">
              <a:rPr lang="en-IN" smtClean="0"/>
              <a:t>‹#›</a:t>
            </a:fld>
            <a:endParaRPr lang="en-IN"/>
          </a:p>
        </p:txBody>
      </p:sp>
    </p:spTree>
    <p:extLst>
      <p:ext uri="{BB962C8B-B14F-4D97-AF65-F5344CB8AC3E}">
        <p14:creationId xmlns:p14="http://schemas.microsoft.com/office/powerpoint/2010/main" val="29486070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4196A6E0-54B3-4F82-BCC5-63812BCE77EF}" type="slidenum">
              <a:rPr lang="en-IN" smtClean="0"/>
              <a:t>1</a:t>
            </a:fld>
            <a:endParaRPr lang="en-IN"/>
          </a:p>
        </p:txBody>
      </p:sp>
    </p:spTree>
    <p:extLst>
      <p:ext uri="{BB962C8B-B14F-4D97-AF65-F5344CB8AC3E}">
        <p14:creationId xmlns:p14="http://schemas.microsoft.com/office/powerpoint/2010/main" val="110985613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D9267E4-C52D-4DB2-9CA8-0B56124A9FC3}" type="slidenum">
              <a:rPr lang="en-IN" smtClean="0"/>
              <a:pPr/>
              <a:t>23</a:t>
            </a:fld>
            <a:endParaRPr lang="en-IN"/>
          </a:p>
        </p:txBody>
      </p:sp>
    </p:spTree>
    <p:extLst>
      <p:ext uri="{BB962C8B-B14F-4D97-AF65-F5344CB8AC3E}">
        <p14:creationId xmlns:p14="http://schemas.microsoft.com/office/powerpoint/2010/main" val="32665228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a:prstGeom prst="rect">
            <a:avLst/>
          </a:prstGeo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a:xfrm>
            <a:off x="628650" y="6639339"/>
            <a:ext cx="2057400" cy="227909"/>
          </a:xfrm>
          <a:prstGeom prst="rect">
            <a:avLst/>
          </a:prstGeom>
        </p:spPr>
        <p:txBody>
          <a:bodyPr/>
          <a:lstStyle>
            <a:lvl1pPr>
              <a:defRPr sz="1200" b="1">
                <a:solidFill>
                  <a:schemeClr val="bg1"/>
                </a:solidFill>
              </a:defRPr>
            </a:lvl1pPr>
          </a:lstStyle>
          <a:p>
            <a:fld id="{803A8B13-2D84-4CF8-A4DE-AA9E303C3B51}" type="datetime1">
              <a:rPr lang="en-IN" smtClean="0"/>
              <a:pPr/>
              <a:t>13-03-2026</a:t>
            </a:fld>
            <a:endParaRPr lang="en-IN" dirty="0"/>
          </a:p>
        </p:txBody>
      </p:sp>
      <p:sp>
        <p:nvSpPr>
          <p:cNvPr id="5" name="Footer Placeholder 4"/>
          <p:cNvSpPr>
            <a:spLocks noGrp="1"/>
          </p:cNvSpPr>
          <p:nvPr>
            <p:ph type="ftr" sz="quarter" idx="11"/>
          </p:nvPr>
        </p:nvSpPr>
        <p:spPr>
          <a:xfrm>
            <a:off x="3028950" y="6639339"/>
            <a:ext cx="3086100" cy="227909"/>
          </a:xfrm>
          <a:prstGeom prst="rect">
            <a:avLst/>
          </a:prstGeom>
        </p:spPr>
        <p:txBody>
          <a:bodyPr/>
          <a:lstStyle>
            <a:lvl1pPr algn="ctr">
              <a:defRPr sz="1200">
                <a:solidFill>
                  <a:schemeClr val="bg1"/>
                </a:solidFill>
              </a:defRPr>
            </a:lvl1pPr>
          </a:lstStyle>
          <a:p>
            <a:r>
              <a:rPr lang="en-US" b="1" dirty="0"/>
              <a:t>SREC-MECH</a:t>
            </a:r>
            <a:endParaRPr lang="en-IN" b="1" dirty="0"/>
          </a:p>
        </p:txBody>
      </p:sp>
      <p:sp>
        <p:nvSpPr>
          <p:cNvPr id="6" name="Slide Number Placeholder 5"/>
          <p:cNvSpPr>
            <a:spLocks noGrp="1"/>
          </p:cNvSpPr>
          <p:nvPr>
            <p:ph type="sldNum" sz="quarter" idx="12"/>
          </p:nvPr>
        </p:nvSpPr>
        <p:spPr>
          <a:xfrm>
            <a:off x="6457950" y="6626087"/>
            <a:ext cx="2057400" cy="227909"/>
          </a:xfrm>
          <a:prstGeom prst="rect">
            <a:avLst/>
          </a:prstGeom>
        </p:spPr>
        <p:txBody>
          <a:bodyPr/>
          <a:lstStyle>
            <a:lvl1pPr algn="r">
              <a:defRPr sz="1400" b="1">
                <a:solidFill>
                  <a:schemeClr val="bg1"/>
                </a:solidFill>
              </a:defRPr>
            </a:lvl1pPr>
          </a:lstStyle>
          <a:p>
            <a:r>
              <a:rPr lang="en-IN" dirty="0"/>
              <a:t>1</a:t>
            </a:r>
          </a:p>
        </p:txBody>
      </p:sp>
    </p:spTree>
    <p:extLst>
      <p:ext uri="{BB962C8B-B14F-4D97-AF65-F5344CB8AC3E}">
        <p14:creationId xmlns:p14="http://schemas.microsoft.com/office/powerpoint/2010/main" val="5326721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a:prstGeom prst="rect">
            <a:avLst/>
          </a:prstGeom>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FECAB431-EEA5-4BBC-82AC-40F761174871}" type="datetime1">
              <a:rPr lang="en-US" smtClean="0"/>
              <a:pPr/>
              <a:t>3/13/2026</a:t>
            </a:fld>
            <a:endParaRPr lang="en-IN"/>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IN"/>
          </a:p>
        </p:txBody>
      </p:sp>
      <p:sp>
        <p:nvSpPr>
          <p:cNvPr id="6" name="Slide Number Placeholder 5"/>
          <p:cNvSpPr>
            <a:spLocks noGrp="1"/>
          </p:cNvSpPr>
          <p:nvPr>
            <p:ph type="sldNum" sz="quarter" idx="12"/>
          </p:nvPr>
        </p:nvSpPr>
        <p:spPr>
          <a:xfrm>
            <a:off x="6553200" y="6356350"/>
            <a:ext cx="2133600" cy="365125"/>
          </a:xfrm>
          <a:prstGeom prst="rect">
            <a:avLst/>
          </a:prstGeom>
        </p:spPr>
        <p:txBody>
          <a:bodyPr/>
          <a:lstStyle/>
          <a:p>
            <a:fld id="{33009814-85F0-44E2-AA29-54E28A9837B4}" type="slidenum">
              <a:rPr lang="en-IN" smtClean="0"/>
              <a:pPr/>
              <a:t>‹#›</a:t>
            </a:fld>
            <a:endParaRPr lang="en-IN"/>
          </a:p>
        </p:txBody>
      </p:sp>
    </p:spTree>
    <p:extLst>
      <p:ext uri="{BB962C8B-B14F-4D97-AF65-F5344CB8AC3E}">
        <p14:creationId xmlns:p14="http://schemas.microsoft.com/office/powerpoint/2010/main" val="180602105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Rectangle 8"/>
          <p:cNvSpPr/>
          <p:nvPr userDrawn="1"/>
        </p:nvSpPr>
        <p:spPr>
          <a:xfrm>
            <a:off x="0" y="6691189"/>
            <a:ext cx="9138202" cy="170814"/>
          </a:xfrm>
          <a:prstGeom prst="rect">
            <a:avLst/>
          </a:prstGeom>
          <a:solidFill>
            <a:schemeClr val="accent6">
              <a:lumMod val="5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userDrawn="1"/>
        </p:nvSpPr>
        <p:spPr>
          <a:xfrm>
            <a:off x="0" y="0"/>
            <a:ext cx="185530" cy="6853996"/>
          </a:xfrm>
          <a:prstGeom prst="rect">
            <a:avLst/>
          </a:prstGeom>
          <a:solidFill>
            <a:schemeClr val="accent6">
              <a:lumMod val="5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p:cNvSpPr/>
          <p:nvPr userDrawn="1"/>
        </p:nvSpPr>
        <p:spPr>
          <a:xfrm>
            <a:off x="8958470" y="4004"/>
            <a:ext cx="185530" cy="6853996"/>
          </a:xfrm>
          <a:prstGeom prst="rect">
            <a:avLst/>
          </a:prstGeom>
          <a:solidFill>
            <a:schemeClr val="accent6">
              <a:lumMod val="5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p:cNvSpPr/>
          <p:nvPr userDrawn="1"/>
        </p:nvSpPr>
        <p:spPr>
          <a:xfrm>
            <a:off x="0" y="1"/>
            <a:ext cx="9138202" cy="132522"/>
          </a:xfrm>
          <a:prstGeom prst="rect">
            <a:avLst/>
          </a:prstGeom>
          <a:solidFill>
            <a:schemeClr val="accent6">
              <a:lumMod val="5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1" name="Rectangle 10"/>
          <p:cNvSpPr/>
          <p:nvPr userDrawn="1"/>
        </p:nvSpPr>
        <p:spPr>
          <a:xfrm>
            <a:off x="5798" y="961646"/>
            <a:ext cx="9138202" cy="132522"/>
          </a:xfrm>
          <a:prstGeom prst="rect">
            <a:avLst/>
          </a:prstGeom>
          <a:solidFill>
            <a:schemeClr val="accent6">
              <a:lumMod val="50000"/>
            </a:schemeClr>
          </a:solid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3" name="Picture 12"/>
          <p:cNvPicPr>
            <a:picLocks noChangeAspect="1"/>
          </p:cNvPicPr>
          <p:nvPr userDrawn="1"/>
        </p:nvPicPr>
        <p:blipFill rotWithShape="1">
          <a:blip r:embed="rId4" cstate="print">
            <a:extLst>
              <a:ext uri="{28A0092B-C50C-407E-A947-70E740481C1C}">
                <a14:useLocalDpi xmlns:a14="http://schemas.microsoft.com/office/drawing/2010/main" val="0"/>
              </a:ext>
            </a:extLst>
          </a:blip>
          <a:srcRect l="37025" t="26715" r="37761" b="27032"/>
          <a:stretch/>
        </p:blipFill>
        <p:spPr>
          <a:xfrm>
            <a:off x="344114" y="153365"/>
            <a:ext cx="569072" cy="777120"/>
          </a:xfrm>
          <a:prstGeom prst="rect">
            <a:avLst/>
          </a:prstGeom>
        </p:spPr>
      </p:pic>
      <p:pic>
        <p:nvPicPr>
          <p:cNvPr id="14" name="Picture 13"/>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8230814" y="195902"/>
            <a:ext cx="539288" cy="702365"/>
          </a:xfrm>
          <a:prstGeom prst="rect">
            <a:avLst/>
          </a:prstGeom>
        </p:spPr>
      </p:pic>
    </p:spTree>
    <p:extLst>
      <p:ext uri="{BB962C8B-B14F-4D97-AF65-F5344CB8AC3E}">
        <p14:creationId xmlns:p14="http://schemas.microsoft.com/office/powerpoint/2010/main" val="2013879920"/>
      </p:ext>
    </p:extLst>
  </p:cSld>
  <p:clrMap bg1="lt1" tx1="dk1" bg2="lt2" tx2="dk2" accent1="accent1" accent2="accent2" accent3="accent3" accent4="accent4" accent5="accent5" accent6="accent6" hlink="hlink" folHlink="folHlink"/>
  <p:sldLayoutIdLst>
    <p:sldLayoutId id="2147483661" r:id="rId1"/>
    <p:sldLayoutId id="2147483662" r:id="rId2"/>
  </p:sldLayoutIdLst>
  <p:hf hdr="0"/>
  <p:txStyles>
    <p:titleStyle>
      <a:lvl1pPr algn="ctr" defTabSz="914400" rtl="0" eaLnBrk="1" latinLnBrk="0" hangingPunct="1">
        <a:lnSpc>
          <a:spcPct val="90000"/>
        </a:lnSpc>
        <a:spcBef>
          <a:spcPct val="0"/>
        </a:spcBef>
        <a:buNone/>
        <a:defRPr lang="en-IN" sz="1100" b="1" kern="1200" smtClean="0">
          <a:solidFill>
            <a:schemeClr val="accent6">
              <a:lumMod val="50000"/>
            </a:schemeClr>
          </a:solidFill>
          <a:effectLst/>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sreccampus.onrender.com/"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r>
              <a:rPr lang="en-US" sz="1200" b="1" dirty="0">
                <a:solidFill>
                  <a:schemeClr val="bg1"/>
                </a:solidFill>
              </a:rPr>
              <a:t>14.03.2026</a:t>
            </a:r>
            <a:endParaRPr lang="en-IN" sz="1200" b="1" dirty="0">
              <a:solidFill>
                <a:schemeClr val="bg1"/>
              </a:solidFill>
            </a:endParaRPr>
          </a:p>
        </p:txBody>
      </p:sp>
      <p:sp>
        <p:nvSpPr>
          <p:cNvPr id="5" name="Slide Number Placeholder 4"/>
          <p:cNvSpPr>
            <a:spLocks noGrp="1"/>
          </p:cNvSpPr>
          <p:nvPr>
            <p:ph type="sldNum" sz="quarter" idx="12"/>
          </p:nvPr>
        </p:nvSpPr>
        <p:spPr/>
        <p:txBody>
          <a:bodyPr/>
          <a:lstStyle/>
          <a:p>
            <a:pPr algn="r"/>
            <a:r>
              <a:rPr lang="en-IN" sz="1200" b="1" dirty="0">
                <a:solidFill>
                  <a:schemeClr val="bg1"/>
                </a:solidFill>
              </a:rPr>
              <a:t>1</a:t>
            </a:r>
          </a:p>
        </p:txBody>
      </p:sp>
      <p:sp>
        <p:nvSpPr>
          <p:cNvPr id="6" name="Footer Placeholder 5"/>
          <p:cNvSpPr>
            <a:spLocks noGrp="1"/>
          </p:cNvSpPr>
          <p:nvPr>
            <p:ph type="ftr" sz="quarter" idx="11"/>
          </p:nvPr>
        </p:nvSpPr>
        <p:spPr/>
        <p:txBody>
          <a:bodyPr/>
          <a:lstStyle/>
          <a:p>
            <a:pPr algn="ctr"/>
            <a:r>
              <a:rPr lang="en-US" sz="1200" b="1" dirty="0">
                <a:solidFill>
                  <a:schemeClr val="bg1"/>
                </a:solidFill>
              </a:rPr>
              <a:t>SREC-CSE</a:t>
            </a:r>
            <a:endParaRPr lang="en-IN" sz="1200" b="1" dirty="0">
              <a:solidFill>
                <a:schemeClr val="bg1"/>
              </a:solidFill>
            </a:endParaRPr>
          </a:p>
        </p:txBody>
      </p:sp>
      <p:sp>
        <p:nvSpPr>
          <p:cNvPr id="7" name="Title Placeholder 1"/>
          <p:cNvSpPr>
            <a:spLocks noGrp="1"/>
          </p:cNvSpPr>
          <p:nvPr/>
        </p:nvSpPr>
        <p:spPr>
          <a:xfrm>
            <a:off x="0" y="148238"/>
            <a:ext cx="9144000" cy="841709"/>
          </a:xfrm>
          <a:prstGeom prst="rect">
            <a:avLst/>
          </a:prstGeom>
        </p:spPr>
        <p:txBody>
          <a:bodyPr vert="horz" lIns="91440" tIns="45720" rIns="91440" bIns="45720" rtlCol="0" anchor="ctr">
            <a:noAutofit/>
          </a:bodyPr>
          <a:lstStyle>
            <a:lvl1pPr algn="ctr" defTabSz="914400" rtl="0" eaLnBrk="1" latinLnBrk="0" hangingPunct="1">
              <a:lnSpc>
                <a:spcPct val="90000"/>
              </a:lnSpc>
              <a:spcBef>
                <a:spcPct val="0"/>
              </a:spcBef>
              <a:buNone/>
              <a:defRPr lang="en-IN" sz="1100" b="1" kern="1200" smtClean="0">
                <a:ln>
                  <a:noFill/>
                </a:ln>
                <a:solidFill>
                  <a:schemeClr val="accent6">
                    <a:lumMod val="50000"/>
                  </a:schemeClr>
                </a:solidFill>
                <a:effectLst/>
                <a:latin typeface="+mj-lt"/>
                <a:ea typeface="+mj-ea"/>
                <a:cs typeface="+mj-cs"/>
              </a:defRPr>
            </a:lvl1pPr>
          </a:lstStyle>
          <a:p>
            <a:r>
              <a:rPr lang="en-US" sz="1400" b="1" dirty="0">
                <a:effectLst/>
                <a:latin typeface="Arial" panose="020B0604020202020204" pitchFamily="34" charset="0"/>
                <a:ea typeface="Calibri" panose="020F0502020204030204" pitchFamily="34" charset="0"/>
                <a:cs typeface="Times New Roman" panose="02020603050405020304" pitchFamily="18" charset="0"/>
              </a:rPr>
              <a:t>SRI RAMAKRISHNA ENGINEERING COLLEGE</a:t>
            </a:r>
            <a:br>
              <a:rPr lang="en-US" sz="800" b="1" dirty="0">
                <a:effectLst/>
                <a:latin typeface="Arial" panose="020B0604020202020204" pitchFamily="34" charset="0"/>
                <a:ea typeface="Calibri" panose="020F0502020204030204" pitchFamily="34" charset="0"/>
                <a:cs typeface="Times New Roman" panose="02020603050405020304" pitchFamily="18" charset="0"/>
              </a:rPr>
            </a:br>
            <a:r>
              <a:rPr lang="en-US" sz="800" dirty="0">
                <a:effectLst/>
                <a:latin typeface="Arial" panose="020B0604020202020204" pitchFamily="34" charset="0"/>
                <a:ea typeface="Calibri" panose="020F0502020204030204" pitchFamily="34" charset="0"/>
                <a:cs typeface="Times New Roman" panose="02020603050405020304" pitchFamily="18" charset="0"/>
              </a:rPr>
              <a:t>[</a:t>
            </a:r>
            <a:r>
              <a:rPr lang="en-US" sz="900" dirty="0">
                <a:effectLst/>
                <a:latin typeface="Arial" panose="020B0604020202020204" pitchFamily="34" charset="0"/>
                <a:ea typeface="Calibri" panose="020F0502020204030204" pitchFamily="34" charset="0"/>
                <a:cs typeface="Times New Roman" panose="02020603050405020304" pitchFamily="18" charset="0"/>
              </a:rPr>
              <a:t>Educational Service: SNR Sons Charitable Trust]</a:t>
            </a:r>
            <a:br>
              <a:rPr lang="en-US" sz="900" dirty="0">
                <a:effectLst/>
                <a:latin typeface="Arial" panose="020B0604020202020204" pitchFamily="34" charset="0"/>
                <a:ea typeface="Calibri" panose="020F0502020204030204" pitchFamily="34" charset="0"/>
                <a:cs typeface="Times New Roman" panose="02020603050405020304" pitchFamily="18" charset="0"/>
              </a:rPr>
            </a:br>
            <a:r>
              <a:rPr lang="en-US" sz="900" dirty="0">
                <a:effectLst/>
                <a:latin typeface="Arial" panose="020B0604020202020204" pitchFamily="34" charset="0"/>
                <a:ea typeface="Calibri" panose="020F0502020204030204" pitchFamily="34" charset="0"/>
                <a:cs typeface="Times New Roman" panose="02020603050405020304" pitchFamily="18" charset="0"/>
              </a:rPr>
              <a:t>[Autonomous Institution, Reaccredited by NAAC with ‘A+’ Grade]</a:t>
            </a:r>
            <a:br>
              <a:rPr lang="en-US" sz="900" dirty="0">
                <a:effectLst/>
                <a:latin typeface="Arial" panose="020B0604020202020204" pitchFamily="34" charset="0"/>
                <a:ea typeface="Calibri" panose="020F0502020204030204" pitchFamily="34" charset="0"/>
                <a:cs typeface="Times New Roman" panose="02020603050405020304" pitchFamily="18" charset="0"/>
              </a:rPr>
            </a:br>
            <a:r>
              <a:rPr lang="en-US" sz="900" dirty="0">
                <a:effectLst/>
                <a:latin typeface="Arial" panose="020B0604020202020204" pitchFamily="34" charset="0"/>
                <a:ea typeface="Calibri" panose="020F0502020204030204" pitchFamily="34" charset="0"/>
                <a:cs typeface="Times New Roman" panose="02020603050405020304" pitchFamily="18" charset="0"/>
              </a:rPr>
              <a:t>[Approved by AICTE and Permanently Affiliated to Anna University, Chennai]</a:t>
            </a:r>
            <a:br>
              <a:rPr lang="en-US" sz="900" dirty="0">
                <a:effectLst/>
                <a:latin typeface="Arial" panose="020B0604020202020204" pitchFamily="34" charset="0"/>
                <a:ea typeface="Calibri" panose="020F0502020204030204" pitchFamily="34" charset="0"/>
                <a:cs typeface="Times New Roman" panose="02020603050405020304" pitchFamily="18" charset="0"/>
              </a:rPr>
            </a:br>
            <a:r>
              <a:rPr lang="en-US" sz="900" dirty="0">
                <a:effectLst/>
                <a:latin typeface="Arial" panose="020B0604020202020204" pitchFamily="34" charset="0"/>
                <a:ea typeface="Calibri" panose="020F0502020204030204" pitchFamily="34" charset="0"/>
                <a:cs typeface="Times New Roman" panose="02020603050405020304" pitchFamily="18" charset="0"/>
              </a:rPr>
              <a:t>[ISO 9001:2015 Certified and all eligible </a:t>
            </a:r>
            <a:r>
              <a:rPr lang="en-US" sz="900" dirty="0" err="1">
                <a:effectLst/>
                <a:latin typeface="Arial" panose="020B0604020202020204" pitchFamily="34" charset="0"/>
                <a:ea typeface="Calibri" panose="020F0502020204030204" pitchFamily="34" charset="0"/>
                <a:cs typeface="Times New Roman" panose="02020603050405020304" pitchFamily="18" charset="0"/>
              </a:rPr>
              <a:t>programmes</a:t>
            </a:r>
            <a:r>
              <a:rPr lang="en-US" sz="900" dirty="0">
                <a:effectLst/>
                <a:latin typeface="Arial" panose="020B0604020202020204" pitchFamily="34" charset="0"/>
                <a:ea typeface="Calibri" panose="020F0502020204030204" pitchFamily="34" charset="0"/>
                <a:cs typeface="Times New Roman" panose="02020603050405020304" pitchFamily="18" charset="0"/>
              </a:rPr>
              <a:t> Accredited by NBA]</a:t>
            </a:r>
            <a:br>
              <a:rPr lang="en-US" sz="900" dirty="0">
                <a:effectLst/>
                <a:latin typeface="Arial" panose="020B0604020202020204" pitchFamily="34" charset="0"/>
                <a:ea typeface="Calibri" panose="020F0502020204030204" pitchFamily="34" charset="0"/>
                <a:cs typeface="Times New Roman" panose="02020603050405020304" pitchFamily="18" charset="0"/>
              </a:rPr>
            </a:br>
            <a:r>
              <a:rPr lang="en-US" sz="900" dirty="0">
                <a:effectLst/>
                <a:latin typeface="Arial" panose="020B0604020202020204" pitchFamily="34" charset="0"/>
                <a:ea typeface="Calibri" panose="020F0502020204030204" pitchFamily="34" charset="0"/>
                <a:cs typeface="Times New Roman" panose="02020603050405020304" pitchFamily="18" charset="0"/>
              </a:rPr>
              <a:t>VATTAMALAIPALAYAM, N.G.G.O. COLONY POST, COIMBATORE – 641 022</a:t>
            </a:r>
            <a:endParaRPr lang="en-IN" sz="1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9" name="Rectangle 8"/>
          <p:cNvSpPr/>
          <p:nvPr/>
        </p:nvSpPr>
        <p:spPr>
          <a:xfrm>
            <a:off x="755650" y="1522413"/>
            <a:ext cx="8001000" cy="4955203"/>
          </a:xfrm>
          <a:prstGeom prst="rect">
            <a:avLst/>
          </a:prstGeom>
        </p:spPr>
        <p:txBody>
          <a:bodyPr>
            <a:spAutoFit/>
          </a:bodyPr>
          <a:lstStyle/>
          <a:p>
            <a:pPr algn="ctr" eaLnBrk="1" fontAlgn="auto" hangingPunct="1">
              <a:spcBef>
                <a:spcPts val="0"/>
              </a:spcBef>
              <a:spcAft>
                <a:spcPts val="0"/>
              </a:spcAft>
              <a:defRPr/>
            </a:pPr>
            <a:r>
              <a:rPr lang="en-US" sz="2400" b="1" dirty="0">
                <a:solidFill>
                  <a:schemeClr val="accent6">
                    <a:lumMod val="50000"/>
                  </a:schemeClr>
                </a:solidFill>
              </a:rPr>
              <a:t>20CS295 – Mini Project I </a:t>
            </a:r>
          </a:p>
          <a:p>
            <a:pPr algn="ctr" eaLnBrk="1" fontAlgn="auto" hangingPunct="1">
              <a:spcBef>
                <a:spcPts val="0"/>
              </a:spcBef>
              <a:spcAft>
                <a:spcPts val="0"/>
              </a:spcAft>
              <a:defRPr/>
            </a:pPr>
            <a:endParaRPr lang="en-US" sz="1200" b="1" dirty="0">
              <a:solidFill>
                <a:schemeClr val="accent2">
                  <a:lumMod val="75000"/>
                </a:schemeClr>
              </a:solidFill>
            </a:endParaRPr>
          </a:p>
          <a:p>
            <a:pPr algn="ctr" eaLnBrk="1" fontAlgn="auto" hangingPunct="1">
              <a:spcBef>
                <a:spcPts val="0"/>
              </a:spcBef>
              <a:spcAft>
                <a:spcPts val="0"/>
              </a:spcAft>
              <a:defRPr/>
            </a:pPr>
            <a:r>
              <a:rPr lang="en-US" sz="2800" b="1" dirty="0">
                <a:solidFill>
                  <a:srgbClr val="0070C0"/>
                </a:solidFill>
              </a:rPr>
              <a:t>“CONNECT SREC” </a:t>
            </a:r>
          </a:p>
          <a:p>
            <a:pPr algn="ctr" eaLnBrk="1" fontAlgn="auto" hangingPunct="1">
              <a:spcBef>
                <a:spcPts val="0"/>
              </a:spcBef>
              <a:spcAft>
                <a:spcPts val="0"/>
              </a:spcAft>
              <a:defRPr/>
            </a:pPr>
            <a:endParaRPr lang="en-US" sz="1200" b="1" dirty="0">
              <a:solidFill>
                <a:srgbClr val="002060"/>
              </a:solidFill>
            </a:endParaRPr>
          </a:p>
          <a:p>
            <a:pPr algn="ctr" eaLnBrk="1" fontAlgn="auto" hangingPunct="1">
              <a:spcBef>
                <a:spcPts val="0"/>
              </a:spcBef>
              <a:spcAft>
                <a:spcPts val="0"/>
              </a:spcAft>
              <a:defRPr/>
            </a:pPr>
            <a:endParaRPr lang="en-US" sz="1600" dirty="0">
              <a:solidFill>
                <a:schemeClr val="accent2">
                  <a:lumMod val="50000"/>
                </a:schemeClr>
              </a:solidFill>
            </a:endParaRPr>
          </a:p>
          <a:p>
            <a:pPr algn="ctr">
              <a:defRPr/>
            </a:pPr>
            <a:r>
              <a:rPr lang="en-US" sz="1600" b="1" dirty="0">
                <a:solidFill>
                  <a:schemeClr val="accent6">
                    <a:lumMod val="50000"/>
                  </a:schemeClr>
                </a:solidFill>
              </a:rPr>
              <a:t>SDG GOALS MAPPED Nos. : </a:t>
            </a:r>
          </a:p>
          <a:p>
            <a:pPr algn="ctr" eaLnBrk="1" fontAlgn="auto" hangingPunct="1">
              <a:spcBef>
                <a:spcPts val="0"/>
              </a:spcBef>
              <a:spcAft>
                <a:spcPts val="0"/>
              </a:spcAft>
              <a:defRPr/>
            </a:pPr>
            <a:endParaRPr lang="en-US" sz="1600" dirty="0">
              <a:solidFill>
                <a:schemeClr val="accent2">
                  <a:lumMod val="50000"/>
                </a:schemeClr>
              </a:solidFill>
            </a:endParaRPr>
          </a:p>
          <a:p>
            <a:pPr algn="ctr" eaLnBrk="1" fontAlgn="auto" hangingPunct="1">
              <a:spcBef>
                <a:spcPts val="0"/>
              </a:spcBef>
              <a:spcAft>
                <a:spcPts val="0"/>
              </a:spcAft>
              <a:defRPr/>
            </a:pPr>
            <a:r>
              <a:rPr lang="en-US" sz="1600" dirty="0">
                <a:solidFill>
                  <a:schemeClr val="accent2">
                    <a:lumMod val="50000"/>
                  </a:schemeClr>
                </a:solidFill>
              </a:rPr>
              <a:t>Type of Project:  Application / Society Based </a:t>
            </a:r>
          </a:p>
          <a:p>
            <a:pPr algn="ctr" eaLnBrk="1" fontAlgn="auto" hangingPunct="1">
              <a:spcBef>
                <a:spcPts val="0"/>
              </a:spcBef>
              <a:spcAft>
                <a:spcPts val="0"/>
              </a:spcAft>
              <a:defRPr/>
            </a:pPr>
            <a:endParaRPr lang="en-US" sz="1600" b="1" dirty="0">
              <a:solidFill>
                <a:srgbClr val="002060"/>
              </a:solidFill>
            </a:endParaRPr>
          </a:p>
          <a:p>
            <a:pPr algn="ctr" eaLnBrk="1" fontAlgn="auto" hangingPunct="1">
              <a:spcBef>
                <a:spcPts val="0"/>
              </a:spcBef>
              <a:spcAft>
                <a:spcPts val="0"/>
              </a:spcAft>
              <a:defRPr/>
            </a:pPr>
            <a:r>
              <a:rPr lang="en-US" sz="2000" b="1" dirty="0">
                <a:solidFill>
                  <a:srgbClr val="FF0000"/>
                </a:solidFill>
              </a:rPr>
              <a:t>Presented by</a:t>
            </a:r>
          </a:p>
          <a:p>
            <a:pPr algn="ctr" eaLnBrk="1" fontAlgn="auto" hangingPunct="1">
              <a:spcBef>
                <a:spcPts val="0"/>
              </a:spcBef>
              <a:spcAft>
                <a:spcPts val="0"/>
              </a:spcAft>
              <a:defRPr/>
            </a:pPr>
            <a:r>
              <a:rPr lang="en-US" sz="2000" b="1" dirty="0">
                <a:solidFill>
                  <a:srgbClr val="002060"/>
                </a:solidFill>
              </a:rPr>
              <a:t>SIVABALAN A – 71812401234</a:t>
            </a:r>
          </a:p>
          <a:p>
            <a:pPr algn="ctr">
              <a:defRPr/>
            </a:pPr>
            <a:r>
              <a:rPr lang="en-US" sz="2000" b="1" dirty="0">
                <a:solidFill>
                  <a:srgbClr val="002060"/>
                </a:solidFill>
              </a:rPr>
              <a:t>SOWMYASREE S – 71812401235</a:t>
            </a:r>
          </a:p>
          <a:p>
            <a:pPr algn="ctr">
              <a:defRPr/>
            </a:pPr>
            <a:r>
              <a:rPr lang="en-US" sz="2000" b="1" dirty="0">
                <a:solidFill>
                  <a:srgbClr val="002060"/>
                </a:solidFill>
              </a:rPr>
              <a:t>PITAMBAR YADAV – 71812401266</a:t>
            </a:r>
          </a:p>
          <a:p>
            <a:pPr algn="ctr" eaLnBrk="1" fontAlgn="auto" hangingPunct="1">
              <a:spcBef>
                <a:spcPts val="0"/>
              </a:spcBef>
              <a:spcAft>
                <a:spcPts val="0"/>
              </a:spcAft>
              <a:defRPr/>
            </a:pPr>
            <a:endParaRPr lang="en-US" sz="2000" b="1" dirty="0">
              <a:solidFill>
                <a:srgbClr val="FF0000"/>
              </a:solidFill>
            </a:endParaRPr>
          </a:p>
          <a:p>
            <a:pPr algn="ctr" eaLnBrk="1" fontAlgn="auto" hangingPunct="1">
              <a:spcBef>
                <a:spcPts val="0"/>
              </a:spcBef>
              <a:spcAft>
                <a:spcPts val="0"/>
              </a:spcAft>
              <a:defRPr/>
            </a:pPr>
            <a:r>
              <a:rPr lang="en-US" sz="2000" b="1" dirty="0">
                <a:solidFill>
                  <a:srgbClr val="FF0000"/>
                </a:solidFill>
              </a:rPr>
              <a:t>Supervised by</a:t>
            </a:r>
          </a:p>
          <a:p>
            <a:pPr algn="ctr">
              <a:defRPr/>
            </a:pPr>
            <a:r>
              <a:rPr lang="en-US" sz="2000" b="1" dirty="0" err="1">
                <a:solidFill>
                  <a:srgbClr val="00B050"/>
                </a:solidFill>
              </a:rPr>
              <a:t>Mr.S.Suresh</a:t>
            </a:r>
            <a:r>
              <a:rPr lang="en-US" sz="2000" b="1" dirty="0">
                <a:solidFill>
                  <a:srgbClr val="00B050"/>
                </a:solidFill>
              </a:rPr>
              <a:t> Kumar</a:t>
            </a:r>
          </a:p>
          <a:p>
            <a:pPr algn="ctr">
              <a:defRPr/>
            </a:pPr>
            <a:r>
              <a:rPr lang="en-US" sz="2000" b="1" dirty="0">
                <a:solidFill>
                  <a:srgbClr val="00B050"/>
                </a:solidFill>
              </a:rPr>
              <a:t>(Assistant Professor / </a:t>
            </a:r>
            <a:r>
              <a:rPr lang="en-US" sz="2000" b="1" dirty="0" err="1">
                <a:solidFill>
                  <a:srgbClr val="00B050"/>
                </a:solidFill>
              </a:rPr>
              <a:t>Sl.G</a:t>
            </a:r>
            <a:r>
              <a:rPr lang="en-US" sz="2000" b="1" dirty="0">
                <a:solidFill>
                  <a:srgbClr val="00B050"/>
                </a:solidFill>
              </a:rPr>
              <a:t>)</a:t>
            </a:r>
          </a:p>
        </p:txBody>
      </p:sp>
      <p:sp>
        <p:nvSpPr>
          <p:cNvPr id="10" name="Rounded Rectangle 9"/>
          <p:cNvSpPr/>
          <p:nvPr/>
        </p:nvSpPr>
        <p:spPr>
          <a:xfrm>
            <a:off x="179388" y="1522412"/>
            <a:ext cx="1944340" cy="53843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b="1" dirty="0">
                <a:solidFill>
                  <a:srgbClr val="FF0000"/>
                </a:solidFill>
              </a:rPr>
              <a:t>Batch No</a:t>
            </a:r>
            <a:r>
              <a:rPr lang="en-US" dirty="0">
                <a:solidFill>
                  <a:srgbClr val="FF0000"/>
                </a:solidFill>
              </a:rPr>
              <a:t>:</a:t>
            </a:r>
            <a:r>
              <a:rPr lang="en-US" spc="-25" dirty="0">
                <a:solidFill>
                  <a:srgbClr val="FF0000"/>
                </a:solidFill>
                <a:cs typeface="Calibri"/>
              </a:rPr>
              <a:t> 2CS56</a:t>
            </a:r>
            <a:endParaRPr lang="en-US" dirty="0">
              <a:solidFill>
                <a:srgbClr val="FF0000"/>
              </a:solidFill>
            </a:endParaRPr>
          </a:p>
        </p:txBody>
      </p:sp>
      <p:sp>
        <p:nvSpPr>
          <p:cNvPr id="11" name="Rounded Rectangle 10"/>
          <p:cNvSpPr/>
          <p:nvPr/>
        </p:nvSpPr>
        <p:spPr>
          <a:xfrm>
            <a:off x="323528" y="5954439"/>
            <a:ext cx="2876872" cy="538435"/>
          </a:xfrm>
          <a:prstGeom prst="round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US" b="1" dirty="0">
                <a:solidFill>
                  <a:srgbClr val="C00000"/>
                </a:solidFill>
              </a:rPr>
              <a:t>Pre-Final Review:</a:t>
            </a:r>
          </a:p>
          <a:p>
            <a:pPr>
              <a:defRPr/>
            </a:pPr>
            <a:r>
              <a:rPr lang="en-US" b="1" dirty="0">
                <a:solidFill>
                  <a:srgbClr val="C00000"/>
                </a:solidFill>
              </a:rPr>
              <a:t>Date               : 14.03.2026</a:t>
            </a:r>
            <a:endParaRPr lang="en-US" dirty="0">
              <a:solidFill>
                <a:srgbClr val="C00000"/>
              </a:solidFill>
            </a:endParaRPr>
          </a:p>
        </p:txBody>
      </p:sp>
    </p:spTree>
    <p:extLst>
      <p:ext uri="{BB962C8B-B14F-4D97-AF65-F5344CB8AC3E}">
        <p14:creationId xmlns:p14="http://schemas.microsoft.com/office/powerpoint/2010/main" val="7658614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04552" y="217025"/>
            <a:ext cx="6777508" cy="639202"/>
          </a:xfrm>
        </p:spPr>
        <p:txBody>
          <a:bodyPr/>
          <a:lstStyle/>
          <a:p>
            <a:br>
              <a:rPr lang="en-IN" sz="2800" b="0" dirty="0">
                <a:solidFill>
                  <a:srgbClr val="660066"/>
                </a:solidFill>
                <a:latin typeface="Arial" panose="020B0604020202020204" pitchFamily="34" charset="0"/>
                <a:cs typeface="Arial" panose="020B0604020202020204" pitchFamily="34" charset="0"/>
              </a:rPr>
            </a:br>
            <a:r>
              <a:rPr lang="en-IN" sz="2800" b="0" dirty="0">
                <a:solidFill>
                  <a:srgbClr val="660066"/>
                </a:solidFill>
                <a:latin typeface="Arial" panose="020B0604020202020204" pitchFamily="34" charset="0"/>
                <a:cs typeface="Arial" panose="020B0604020202020204" pitchFamily="34" charset="0"/>
              </a:rPr>
              <a:t> </a:t>
            </a:r>
            <a:endParaRPr lang="en-IN" sz="2800" dirty="0">
              <a:solidFill>
                <a:srgbClr val="660066"/>
              </a:solidFill>
              <a:latin typeface="Arial" panose="020B0604020202020204" pitchFamily="34" charset="0"/>
              <a:cs typeface="Arial" panose="020B0604020202020204" pitchFamily="34" charset="0"/>
            </a:endParaRPr>
          </a:p>
        </p:txBody>
      </p:sp>
      <p:sp>
        <p:nvSpPr>
          <p:cNvPr id="4" name="Date Placeholder 3"/>
          <p:cNvSpPr>
            <a:spLocks noGrp="1"/>
          </p:cNvSpPr>
          <p:nvPr>
            <p:ph type="dt" sz="half" idx="10"/>
          </p:nvPr>
        </p:nvSpPr>
        <p:spPr/>
        <p:txBody>
          <a:bodyPr/>
          <a:lstStyle/>
          <a:p>
            <a:r>
              <a:rPr lang="en-US" dirty="0"/>
              <a:t>14.03.2026</a:t>
            </a:r>
            <a:endParaRPr lang="en-IN" dirty="0"/>
          </a:p>
        </p:txBody>
      </p:sp>
      <p:sp>
        <p:nvSpPr>
          <p:cNvPr id="5" name="Footer Placeholder 4"/>
          <p:cNvSpPr>
            <a:spLocks noGrp="1"/>
          </p:cNvSpPr>
          <p:nvPr>
            <p:ph type="ftr" sz="quarter" idx="11"/>
          </p:nvPr>
        </p:nvSpPr>
        <p:spPr/>
        <p:txBody>
          <a:bodyPr/>
          <a:lstStyle/>
          <a:p>
            <a:r>
              <a:rPr lang="en-US" b="1" dirty="0"/>
              <a:t>SREC-CSE</a:t>
            </a:r>
            <a:endParaRPr lang="en-IN" b="1" dirty="0"/>
          </a:p>
        </p:txBody>
      </p:sp>
      <p:sp>
        <p:nvSpPr>
          <p:cNvPr id="6" name="Slide Number Placeholder 5"/>
          <p:cNvSpPr>
            <a:spLocks noGrp="1"/>
          </p:cNvSpPr>
          <p:nvPr>
            <p:ph type="sldNum" sz="quarter" idx="12"/>
          </p:nvPr>
        </p:nvSpPr>
        <p:spPr/>
        <p:txBody>
          <a:bodyPr/>
          <a:lstStyle/>
          <a:p>
            <a:r>
              <a:rPr lang="en-US" dirty="0"/>
              <a:t>3</a:t>
            </a:r>
            <a:endParaRPr lang="en-IN" dirty="0"/>
          </a:p>
        </p:txBody>
      </p:sp>
      <p:sp>
        <p:nvSpPr>
          <p:cNvPr id="7" name="Rectangle 6"/>
          <p:cNvSpPr/>
          <p:nvPr/>
        </p:nvSpPr>
        <p:spPr>
          <a:xfrm>
            <a:off x="1375625" y="302447"/>
            <a:ext cx="6111025" cy="523220"/>
          </a:xfrm>
          <a:prstGeom prst="rect">
            <a:avLst/>
          </a:prstGeom>
        </p:spPr>
        <p:txBody>
          <a:bodyPr wrap="square">
            <a:spAutoFit/>
          </a:bodyPr>
          <a:lstStyle/>
          <a:p>
            <a:pPr algn="ctr"/>
            <a:r>
              <a:rPr lang="en-IN" sz="2800" b="1" dirty="0">
                <a:solidFill>
                  <a:schemeClr val="accent6">
                    <a:lumMod val="50000"/>
                  </a:schemeClr>
                </a:solidFill>
                <a:latin typeface="Arial" panose="020B0604020202020204" pitchFamily="34" charset="0"/>
                <a:cs typeface="Arial" panose="020B0604020202020204" pitchFamily="34" charset="0"/>
              </a:rPr>
              <a:t>Contents</a:t>
            </a:r>
            <a:endParaRPr lang="en-IN" sz="2800" dirty="0">
              <a:solidFill>
                <a:schemeClr val="accent6">
                  <a:lumMod val="50000"/>
                </a:schemeClr>
              </a:solidFill>
              <a:latin typeface="Arial" panose="020B0604020202020204" pitchFamily="34" charset="0"/>
              <a:cs typeface="Arial" panose="020B0604020202020204" pitchFamily="34" charset="0"/>
            </a:endParaRPr>
          </a:p>
        </p:txBody>
      </p:sp>
      <p:sp>
        <p:nvSpPr>
          <p:cNvPr id="8" name="Subtitle 7"/>
          <p:cNvSpPr>
            <a:spLocks noGrp="1"/>
          </p:cNvSpPr>
          <p:nvPr>
            <p:ph type="subTitle" idx="1"/>
          </p:nvPr>
        </p:nvSpPr>
        <p:spPr/>
        <p:txBody>
          <a:bodyPr/>
          <a:lstStyle/>
          <a:p>
            <a:endParaRPr lang="en-IN"/>
          </a:p>
        </p:txBody>
      </p:sp>
      <p:graphicFrame>
        <p:nvGraphicFramePr>
          <p:cNvPr id="9" name="Content Placeholder 5"/>
          <p:cNvGraphicFramePr>
            <a:graphicFrameLocks/>
          </p:cNvGraphicFramePr>
          <p:nvPr>
            <p:extLst>
              <p:ext uri="{D42A27DB-BD31-4B8C-83A1-F6EECF244321}">
                <p14:modId xmlns:p14="http://schemas.microsoft.com/office/powerpoint/2010/main" val="2848529546"/>
              </p:ext>
            </p:extLst>
          </p:nvPr>
        </p:nvGraphicFramePr>
        <p:xfrm>
          <a:off x="457200" y="1329003"/>
          <a:ext cx="8229600" cy="4718523"/>
        </p:xfrm>
        <a:graphic>
          <a:graphicData uri="http://schemas.openxmlformats.org/drawingml/2006/table">
            <a:tbl>
              <a:tblPr firstRow="1" bandRow="1">
                <a:tableStyleId>{5C22544A-7EE6-4342-B048-85BDC9FD1C3A}</a:tableStyleId>
              </a:tblPr>
              <a:tblGrid>
                <a:gridCol w="1018456">
                  <a:extLst>
                    <a:ext uri="{9D8B030D-6E8A-4147-A177-3AD203B41FA5}">
                      <a16:colId xmlns:a16="http://schemas.microsoft.com/office/drawing/2014/main" val="20000"/>
                    </a:ext>
                  </a:extLst>
                </a:gridCol>
                <a:gridCol w="5472608">
                  <a:extLst>
                    <a:ext uri="{9D8B030D-6E8A-4147-A177-3AD203B41FA5}">
                      <a16:colId xmlns:a16="http://schemas.microsoft.com/office/drawing/2014/main" val="20001"/>
                    </a:ext>
                  </a:extLst>
                </a:gridCol>
                <a:gridCol w="1738536">
                  <a:extLst>
                    <a:ext uri="{9D8B030D-6E8A-4147-A177-3AD203B41FA5}">
                      <a16:colId xmlns:a16="http://schemas.microsoft.com/office/drawing/2014/main" val="20002"/>
                    </a:ext>
                  </a:extLst>
                </a:gridCol>
              </a:tblGrid>
              <a:tr h="370769">
                <a:tc>
                  <a:txBody>
                    <a:bodyPr/>
                    <a:lstStyle/>
                    <a:p>
                      <a:pPr algn="ctr"/>
                      <a:r>
                        <a:rPr lang="en-US" sz="1800" dirty="0" err="1">
                          <a:latin typeface="Times New Roman" panose="02020603050405020304" pitchFamily="18" charset="0"/>
                          <a:cs typeface="Times New Roman" panose="02020603050405020304" pitchFamily="18" charset="0"/>
                        </a:rPr>
                        <a:t>S.No</a:t>
                      </a:r>
                      <a:endParaRPr lang="en-US" sz="1800" dirty="0">
                        <a:latin typeface="Times New Roman" panose="02020603050405020304" pitchFamily="18" charset="0"/>
                        <a:cs typeface="Times New Roman" panose="02020603050405020304" pitchFamily="18" charset="0"/>
                      </a:endParaRPr>
                    </a:p>
                  </a:txBody>
                  <a:tcPr marT="45712" marB="45712"/>
                </a:tc>
                <a:tc>
                  <a:txBody>
                    <a:bodyPr/>
                    <a:lstStyle/>
                    <a:p>
                      <a:pPr algn="ctr"/>
                      <a:r>
                        <a:rPr lang="en-US" sz="1800" dirty="0">
                          <a:latin typeface="Times New Roman" panose="02020603050405020304" pitchFamily="18" charset="0"/>
                          <a:cs typeface="Times New Roman" panose="02020603050405020304" pitchFamily="18" charset="0"/>
                        </a:rPr>
                        <a:t>Description</a:t>
                      </a:r>
                      <a:r>
                        <a:rPr lang="en-US" sz="1800" baseline="0" dirty="0">
                          <a:latin typeface="Times New Roman" panose="02020603050405020304" pitchFamily="18" charset="0"/>
                          <a:cs typeface="Times New Roman" panose="02020603050405020304" pitchFamily="18" charset="0"/>
                        </a:rPr>
                        <a:t> </a:t>
                      </a:r>
                      <a:endParaRPr lang="en-US" sz="1800" dirty="0">
                        <a:latin typeface="Times New Roman" panose="02020603050405020304" pitchFamily="18" charset="0"/>
                        <a:cs typeface="Times New Roman" panose="02020603050405020304" pitchFamily="18" charset="0"/>
                      </a:endParaRPr>
                    </a:p>
                  </a:txBody>
                  <a:tcPr marT="45712" marB="45712"/>
                </a:tc>
                <a:tc>
                  <a:txBody>
                    <a:bodyPr/>
                    <a:lstStyle/>
                    <a:p>
                      <a:pPr algn="ctr"/>
                      <a:r>
                        <a:rPr lang="en-US" sz="1800" dirty="0">
                          <a:latin typeface="Times New Roman" panose="02020603050405020304" pitchFamily="18" charset="0"/>
                          <a:cs typeface="Times New Roman" panose="02020603050405020304" pitchFamily="18" charset="0"/>
                        </a:rPr>
                        <a:t>Slide Number</a:t>
                      </a:r>
                    </a:p>
                  </a:txBody>
                  <a:tcPr marT="45712" marB="45712"/>
                </a:tc>
                <a:extLst>
                  <a:ext uri="{0D108BD9-81ED-4DB2-BD59-A6C34878D82A}">
                    <a16:rowId xmlns:a16="http://schemas.microsoft.com/office/drawing/2014/main" val="10000"/>
                  </a:ext>
                </a:extLst>
              </a:tr>
              <a:tr h="370769">
                <a:tc>
                  <a:txBody>
                    <a:bodyPr/>
                    <a:lstStyle/>
                    <a:p>
                      <a:pPr algn="ctr"/>
                      <a:r>
                        <a:rPr lang="en-US" sz="1800" dirty="0">
                          <a:solidFill>
                            <a:srgbClr val="2B049A"/>
                          </a:solidFill>
                          <a:latin typeface="Times New Roman" panose="02020603050405020304" pitchFamily="18" charset="0"/>
                          <a:cs typeface="Times New Roman" panose="02020603050405020304" pitchFamily="18" charset="0"/>
                        </a:rPr>
                        <a:t>1</a:t>
                      </a:r>
                    </a:p>
                  </a:txBody>
                  <a:tcPr marT="45712" marB="45712"/>
                </a:tc>
                <a:tc>
                  <a:txBody>
                    <a:bodyPr/>
                    <a:lstStyle/>
                    <a:p>
                      <a:r>
                        <a:rPr lang="en-US" sz="1800" dirty="0">
                          <a:solidFill>
                            <a:srgbClr val="2B049A"/>
                          </a:solidFill>
                          <a:latin typeface="Times New Roman" panose="02020603050405020304" pitchFamily="18" charset="0"/>
                          <a:cs typeface="Times New Roman" panose="02020603050405020304" pitchFamily="18" charset="0"/>
                        </a:rPr>
                        <a:t>Introduction</a:t>
                      </a:r>
                    </a:p>
                  </a:txBody>
                  <a:tcPr marT="45712" marB="45712"/>
                </a:tc>
                <a:tc>
                  <a:txBody>
                    <a:bodyPr/>
                    <a:lstStyle/>
                    <a:p>
                      <a:pPr algn="ctr"/>
                      <a:r>
                        <a:rPr lang="en-US" sz="1800" dirty="0">
                          <a:solidFill>
                            <a:srgbClr val="2B049A"/>
                          </a:solidFill>
                          <a:latin typeface="Times New Roman" panose="02020603050405020304" pitchFamily="18" charset="0"/>
                          <a:cs typeface="Times New Roman" panose="02020603050405020304" pitchFamily="18" charset="0"/>
                        </a:rPr>
                        <a:t>3</a:t>
                      </a:r>
                    </a:p>
                  </a:txBody>
                  <a:tcPr marT="45712" marB="45712"/>
                </a:tc>
                <a:extLst>
                  <a:ext uri="{0D108BD9-81ED-4DB2-BD59-A6C34878D82A}">
                    <a16:rowId xmlns:a16="http://schemas.microsoft.com/office/drawing/2014/main" val="10001"/>
                  </a:ext>
                </a:extLst>
              </a:tr>
              <a:tr h="370769">
                <a:tc>
                  <a:txBody>
                    <a:bodyPr/>
                    <a:lstStyle/>
                    <a:p>
                      <a:pPr algn="ctr"/>
                      <a:r>
                        <a:rPr lang="en-US" sz="1800" dirty="0">
                          <a:solidFill>
                            <a:srgbClr val="2B049A"/>
                          </a:solidFill>
                          <a:latin typeface="Times New Roman" panose="02020603050405020304" pitchFamily="18" charset="0"/>
                          <a:cs typeface="Times New Roman" panose="02020603050405020304" pitchFamily="18" charset="0"/>
                        </a:rPr>
                        <a:t>2</a:t>
                      </a:r>
                    </a:p>
                  </a:txBody>
                  <a:tcPr marT="45712" marB="45712"/>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2B049A"/>
                          </a:solidFill>
                          <a:latin typeface="Times New Roman" panose="02020603050405020304" pitchFamily="18" charset="0"/>
                          <a:cs typeface="Times New Roman" panose="02020603050405020304" pitchFamily="18" charset="0"/>
                        </a:rPr>
                        <a:t>Problem</a:t>
                      </a:r>
                      <a:r>
                        <a:rPr lang="en-US" sz="1800" baseline="0" dirty="0">
                          <a:solidFill>
                            <a:srgbClr val="2B049A"/>
                          </a:solidFill>
                          <a:latin typeface="Times New Roman" panose="02020603050405020304" pitchFamily="18" charset="0"/>
                          <a:cs typeface="Times New Roman" panose="02020603050405020304" pitchFamily="18" charset="0"/>
                        </a:rPr>
                        <a:t> identification, scope and objective</a:t>
                      </a:r>
                      <a:r>
                        <a:rPr lang="en-US" sz="1800" kern="1200" dirty="0">
                          <a:solidFill>
                            <a:srgbClr val="2B049A"/>
                          </a:solidFill>
                          <a:latin typeface="Times New Roman" panose="02020603050405020304" pitchFamily="18" charset="0"/>
                          <a:ea typeface="+mn-ea"/>
                          <a:cs typeface="Times New Roman" panose="02020603050405020304" pitchFamily="18" charset="0"/>
                        </a:rPr>
                        <a:t> </a:t>
                      </a:r>
                      <a:endParaRPr lang="en-IN" sz="1800" kern="1200" dirty="0">
                        <a:solidFill>
                          <a:srgbClr val="2B049A"/>
                        </a:solidFill>
                        <a:latin typeface="Times New Roman" panose="02020603050405020304" pitchFamily="18" charset="0"/>
                        <a:ea typeface="+mn-ea"/>
                        <a:cs typeface="Times New Roman" panose="02020603050405020304" pitchFamily="18" charset="0"/>
                      </a:endParaRPr>
                    </a:p>
                  </a:txBody>
                  <a:tcPr marT="45712" marB="45712"/>
                </a:tc>
                <a:tc>
                  <a:txBody>
                    <a:bodyPr/>
                    <a:lstStyle/>
                    <a:p>
                      <a:pPr algn="ctr"/>
                      <a:r>
                        <a:rPr lang="en-US" sz="1800" dirty="0">
                          <a:solidFill>
                            <a:srgbClr val="2B049A"/>
                          </a:solidFill>
                          <a:latin typeface="Times New Roman" panose="02020603050405020304" pitchFamily="18" charset="0"/>
                          <a:cs typeface="Times New Roman" panose="02020603050405020304" pitchFamily="18" charset="0"/>
                        </a:rPr>
                        <a:t>4-5</a:t>
                      </a:r>
                    </a:p>
                  </a:txBody>
                  <a:tcPr marT="45712" marB="45712"/>
                </a:tc>
                <a:extLst>
                  <a:ext uri="{0D108BD9-81ED-4DB2-BD59-A6C34878D82A}">
                    <a16:rowId xmlns:a16="http://schemas.microsoft.com/office/drawing/2014/main" val="10002"/>
                  </a:ext>
                </a:extLst>
              </a:tr>
              <a:tr h="370769">
                <a:tc>
                  <a:txBody>
                    <a:bodyPr/>
                    <a:lstStyle/>
                    <a:p>
                      <a:pPr algn="ctr"/>
                      <a:r>
                        <a:rPr lang="en-US" sz="1800" dirty="0">
                          <a:solidFill>
                            <a:srgbClr val="2B049A"/>
                          </a:solidFill>
                          <a:latin typeface="Times New Roman" panose="02020603050405020304" pitchFamily="18" charset="0"/>
                          <a:cs typeface="Times New Roman" panose="02020603050405020304" pitchFamily="18" charset="0"/>
                        </a:rPr>
                        <a:t>3</a:t>
                      </a:r>
                    </a:p>
                  </a:txBody>
                  <a:tcPr marT="45712" marB="45712"/>
                </a:tc>
                <a:tc>
                  <a:txBody>
                    <a:bodyPr/>
                    <a:lstStyle/>
                    <a:p>
                      <a:r>
                        <a:rPr lang="en-US" sz="1800" dirty="0">
                          <a:solidFill>
                            <a:srgbClr val="2B049A"/>
                          </a:solidFill>
                          <a:latin typeface="Times New Roman" panose="02020603050405020304" pitchFamily="18" charset="0"/>
                          <a:cs typeface="Times New Roman" panose="02020603050405020304" pitchFamily="18" charset="0"/>
                        </a:rPr>
                        <a:t>Literature Survey</a:t>
                      </a:r>
                    </a:p>
                  </a:txBody>
                  <a:tcPr marT="45712" marB="45712"/>
                </a:tc>
                <a:tc>
                  <a:txBody>
                    <a:bodyPr/>
                    <a:lstStyle/>
                    <a:p>
                      <a:pPr algn="ctr"/>
                      <a:r>
                        <a:rPr lang="en-US" sz="1800" dirty="0">
                          <a:solidFill>
                            <a:srgbClr val="2B049A"/>
                          </a:solidFill>
                          <a:latin typeface="Times New Roman" panose="02020603050405020304" pitchFamily="18" charset="0"/>
                          <a:cs typeface="Times New Roman" panose="02020603050405020304" pitchFamily="18" charset="0"/>
                        </a:rPr>
                        <a:t>6-10</a:t>
                      </a:r>
                    </a:p>
                  </a:txBody>
                  <a:tcPr marT="45712" marB="45712"/>
                </a:tc>
                <a:extLst>
                  <a:ext uri="{0D108BD9-81ED-4DB2-BD59-A6C34878D82A}">
                    <a16:rowId xmlns:a16="http://schemas.microsoft.com/office/drawing/2014/main" val="10003"/>
                  </a:ext>
                </a:extLst>
              </a:tr>
              <a:tr h="370769">
                <a:tc>
                  <a:txBody>
                    <a:bodyPr/>
                    <a:lstStyle/>
                    <a:p>
                      <a:pPr algn="ctr"/>
                      <a:r>
                        <a:rPr lang="en-US" sz="1800" dirty="0">
                          <a:solidFill>
                            <a:srgbClr val="2B049A"/>
                          </a:solidFill>
                          <a:latin typeface="Times New Roman" panose="02020603050405020304" pitchFamily="18" charset="0"/>
                          <a:cs typeface="Times New Roman" panose="02020603050405020304" pitchFamily="18" charset="0"/>
                        </a:rPr>
                        <a:t>4</a:t>
                      </a:r>
                    </a:p>
                  </a:txBody>
                  <a:tcPr marT="45712" marB="45712"/>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2B049A"/>
                          </a:solidFill>
                          <a:latin typeface="Times New Roman" panose="02020603050405020304" pitchFamily="18" charset="0"/>
                          <a:cs typeface="Times New Roman" panose="02020603050405020304" pitchFamily="18" charset="0"/>
                        </a:rPr>
                        <a:t>Existing technology of the project</a:t>
                      </a:r>
                    </a:p>
                  </a:txBody>
                  <a:tcPr marT="45712" marB="45712"/>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rgbClr val="2B049A"/>
                          </a:solidFill>
                          <a:latin typeface="Times New Roman" panose="02020603050405020304" pitchFamily="18" charset="0"/>
                          <a:cs typeface="Times New Roman" panose="02020603050405020304" pitchFamily="18" charset="0"/>
                        </a:rPr>
                        <a:t>11-12</a:t>
                      </a:r>
                    </a:p>
                  </a:txBody>
                  <a:tcPr marT="45712" marB="45712"/>
                </a:tc>
                <a:extLst>
                  <a:ext uri="{0D108BD9-81ED-4DB2-BD59-A6C34878D82A}">
                    <a16:rowId xmlns:a16="http://schemas.microsoft.com/office/drawing/2014/main" val="10004"/>
                  </a:ext>
                </a:extLst>
              </a:tr>
              <a:tr h="370769">
                <a:tc>
                  <a:txBody>
                    <a:bodyPr/>
                    <a:lstStyle/>
                    <a:p>
                      <a:pPr algn="ctr"/>
                      <a:r>
                        <a:rPr lang="en-US" sz="1800" dirty="0">
                          <a:solidFill>
                            <a:srgbClr val="2B049A"/>
                          </a:solidFill>
                          <a:latin typeface="Times New Roman" panose="02020603050405020304" pitchFamily="18" charset="0"/>
                          <a:cs typeface="Times New Roman" panose="02020603050405020304" pitchFamily="18" charset="0"/>
                        </a:rPr>
                        <a:t>5</a:t>
                      </a:r>
                    </a:p>
                  </a:txBody>
                  <a:tcPr marT="45712" marB="45712"/>
                </a:tc>
                <a:tc>
                  <a:txBody>
                    <a:bodyPr/>
                    <a:lstStyle/>
                    <a:p>
                      <a:r>
                        <a:rPr lang="en-US" sz="1800" dirty="0">
                          <a:solidFill>
                            <a:srgbClr val="2B049A"/>
                          </a:solidFill>
                          <a:latin typeface="Times New Roman" panose="02020603050405020304" pitchFamily="18" charset="0"/>
                          <a:cs typeface="Times New Roman" panose="02020603050405020304" pitchFamily="18" charset="0"/>
                        </a:rPr>
                        <a:t>Methodology,</a:t>
                      </a:r>
                      <a:r>
                        <a:rPr lang="en-US" sz="1800" baseline="0" dirty="0">
                          <a:solidFill>
                            <a:srgbClr val="2B049A"/>
                          </a:solidFill>
                          <a:latin typeface="Times New Roman" panose="02020603050405020304" pitchFamily="18" charset="0"/>
                          <a:cs typeface="Times New Roman" panose="02020603050405020304" pitchFamily="18" charset="0"/>
                        </a:rPr>
                        <a:t> </a:t>
                      </a:r>
                      <a:r>
                        <a:rPr lang="en-US" sz="1800" dirty="0">
                          <a:solidFill>
                            <a:srgbClr val="2B049A"/>
                          </a:solidFill>
                          <a:latin typeface="Times New Roman" panose="02020603050405020304" pitchFamily="18" charset="0"/>
                          <a:cs typeface="Times New Roman" panose="02020603050405020304" pitchFamily="18" charset="0"/>
                        </a:rPr>
                        <a:t>Time line, </a:t>
                      </a:r>
                    </a:p>
                  </a:txBody>
                  <a:tcPr marT="45712" marB="45712"/>
                </a:tc>
                <a:tc>
                  <a:txBody>
                    <a:bodyPr/>
                    <a:lstStyle/>
                    <a:p>
                      <a:pPr algn="ctr"/>
                      <a:r>
                        <a:rPr lang="en-US" sz="1800" dirty="0">
                          <a:solidFill>
                            <a:srgbClr val="2B049A"/>
                          </a:solidFill>
                          <a:latin typeface="Times New Roman" panose="02020603050405020304" pitchFamily="18" charset="0"/>
                          <a:cs typeface="Times New Roman" panose="02020603050405020304" pitchFamily="18" charset="0"/>
                        </a:rPr>
                        <a:t>13-14</a:t>
                      </a:r>
                    </a:p>
                  </a:txBody>
                  <a:tcPr marT="45712" marB="45712"/>
                </a:tc>
                <a:extLst>
                  <a:ext uri="{0D108BD9-81ED-4DB2-BD59-A6C34878D82A}">
                    <a16:rowId xmlns:a16="http://schemas.microsoft.com/office/drawing/2014/main" val="10005"/>
                  </a:ext>
                </a:extLst>
              </a:tr>
              <a:tr h="370769">
                <a:tc>
                  <a:txBody>
                    <a:bodyPr/>
                    <a:lstStyle/>
                    <a:p>
                      <a:pPr algn="ctr"/>
                      <a:r>
                        <a:rPr lang="en-US" sz="1800" dirty="0">
                          <a:solidFill>
                            <a:srgbClr val="2B049A"/>
                          </a:solidFill>
                          <a:latin typeface="Times New Roman" panose="02020603050405020304" pitchFamily="18" charset="0"/>
                          <a:cs typeface="Times New Roman" panose="02020603050405020304" pitchFamily="18" charset="0"/>
                        </a:rPr>
                        <a:t>6</a:t>
                      </a:r>
                    </a:p>
                  </a:txBody>
                  <a:tcPr marT="45712" marB="45712"/>
                </a:tc>
                <a:tc>
                  <a:txBody>
                    <a:bodyPr/>
                    <a:lstStyle/>
                    <a:p>
                      <a:r>
                        <a:rPr lang="en-US" sz="1800" dirty="0">
                          <a:solidFill>
                            <a:srgbClr val="2B049A"/>
                          </a:solidFill>
                          <a:latin typeface="Times New Roman" panose="02020603050405020304" pitchFamily="18" charset="0"/>
                          <a:cs typeface="Times New Roman" panose="02020603050405020304" pitchFamily="18" charset="0"/>
                        </a:rPr>
                        <a:t>Design &amp; Experimentation- Technical feasibility</a:t>
                      </a:r>
                    </a:p>
                  </a:txBody>
                  <a:tcPr marT="45712" marB="45712"/>
                </a:tc>
                <a:tc>
                  <a:txBody>
                    <a:bodyPr/>
                    <a:lstStyle/>
                    <a:p>
                      <a:pPr algn="ctr"/>
                      <a:r>
                        <a:rPr lang="en-US" sz="1800" dirty="0">
                          <a:solidFill>
                            <a:srgbClr val="2B049A"/>
                          </a:solidFill>
                          <a:latin typeface="Times New Roman" panose="02020603050405020304" pitchFamily="18" charset="0"/>
                          <a:cs typeface="Times New Roman" panose="02020603050405020304" pitchFamily="18" charset="0"/>
                        </a:rPr>
                        <a:t>15 - 16</a:t>
                      </a:r>
                    </a:p>
                  </a:txBody>
                  <a:tcPr marT="45712" marB="45712"/>
                </a:tc>
                <a:extLst>
                  <a:ext uri="{0D108BD9-81ED-4DB2-BD59-A6C34878D82A}">
                    <a16:rowId xmlns:a16="http://schemas.microsoft.com/office/drawing/2014/main" val="10006"/>
                  </a:ext>
                </a:extLst>
              </a:tr>
              <a:tr h="370769">
                <a:tc>
                  <a:txBody>
                    <a:bodyPr/>
                    <a:lstStyle/>
                    <a:p>
                      <a:pPr algn="ctr"/>
                      <a:r>
                        <a:rPr lang="en-US" sz="1800" dirty="0">
                          <a:solidFill>
                            <a:srgbClr val="2B049A"/>
                          </a:solidFill>
                          <a:latin typeface="Times New Roman" panose="02020603050405020304" pitchFamily="18" charset="0"/>
                          <a:cs typeface="Times New Roman" panose="02020603050405020304" pitchFamily="18" charset="0"/>
                        </a:rPr>
                        <a:t>7</a:t>
                      </a:r>
                    </a:p>
                  </a:txBody>
                  <a:tcPr marT="45712" marB="45712"/>
                </a:tc>
                <a:tc>
                  <a:txBody>
                    <a:bodyPr/>
                    <a:lstStyle/>
                    <a:p>
                      <a:r>
                        <a:rPr lang="en-US" sz="1800" dirty="0">
                          <a:solidFill>
                            <a:srgbClr val="2B049A"/>
                          </a:solidFill>
                          <a:latin typeface="Times New Roman" panose="02020603050405020304" pitchFamily="18" charset="0"/>
                          <a:cs typeface="Times New Roman" panose="02020603050405020304" pitchFamily="18" charset="0"/>
                        </a:rPr>
                        <a:t>Results obtained</a:t>
                      </a:r>
                      <a:r>
                        <a:rPr lang="en-US" sz="1800" baseline="0" dirty="0">
                          <a:solidFill>
                            <a:srgbClr val="2B049A"/>
                          </a:solidFill>
                          <a:latin typeface="Times New Roman" panose="02020603050405020304" pitchFamily="18" charset="0"/>
                          <a:cs typeface="Times New Roman" panose="02020603050405020304" pitchFamily="18" charset="0"/>
                        </a:rPr>
                        <a:t> till date </a:t>
                      </a:r>
                      <a:endParaRPr lang="en-US" sz="1800" dirty="0">
                        <a:solidFill>
                          <a:srgbClr val="2B049A"/>
                        </a:solidFill>
                        <a:latin typeface="Times New Roman" panose="02020603050405020304" pitchFamily="18" charset="0"/>
                        <a:cs typeface="Times New Roman" panose="02020603050405020304" pitchFamily="18" charset="0"/>
                      </a:endParaRPr>
                    </a:p>
                  </a:txBody>
                  <a:tcPr marT="45712" marB="45712"/>
                </a:tc>
                <a:tc>
                  <a:txBody>
                    <a:bodyPr/>
                    <a:lstStyle/>
                    <a:p>
                      <a:pPr algn="ctr"/>
                      <a:r>
                        <a:rPr lang="en-US" sz="1800" dirty="0">
                          <a:solidFill>
                            <a:srgbClr val="2B049A"/>
                          </a:solidFill>
                          <a:latin typeface="Times New Roman" panose="02020603050405020304" pitchFamily="18" charset="0"/>
                          <a:cs typeface="Times New Roman" panose="02020603050405020304" pitchFamily="18" charset="0"/>
                        </a:rPr>
                        <a:t>17 - 18</a:t>
                      </a:r>
                    </a:p>
                  </a:txBody>
                  <a:tcPr marT="45712" marB="45712"/>
                </a:tc>
                <a:extLst>
                  <a:ext uri="{0D108BD9-81ED-4DB2-BD59-A6C34878D82A}">
                    <a16:rowId xmlns:a16="http://schemas.microsoft.com/office/drawing/2014/main" val="10007"/>
                  </a:ext>
                </a:extLst>
              </a:tr>
              <a:tr h="370769">
                <a:tc>
                  <a:txBody>
                    <a:bodyPr/>
                    <a:lstStyle/>
                    <a:p>
                      <a:pPr algn="ctr"/>
                      <a:r>
                        <a:rPr lang="en-US" sz="1800" dirty="0">
                          <a:solidFill>
                            <a:srgbClr val="2B049A"/>
                          </a:solidFill>
                          <a:latin typeface="Times New Roman" panose="02020603050405020304" pitchFamily="18" charset="0"/>
                          <a:cs typeface="Times New Roman" panose="02020603050405020304" pitchFamily="18" charset="0"/>
                        </a:rPr>
                        <a:t>8</a:t>
                      </a:r>
                    </a:p>
                  </a:txBody>
                  <a:tcPr marT="45712" marB="45712"/>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2B049A"/>
                          </a:solidFill>
                          <a:latin typeface="Times New Roman" panose="02020603050405020304" pitchFamily="18" charset="0"/>
                          <a:cs typeface="Times New Roman" panose="02020603050405020304" pitchFamily="18" charset="0"/>
                        </a:rPr>
                        <a:t>Costing </a:t>
                      </a:r>
                      <a:r>
                        <a:rPr lang="en-US" sz="1800" baseline="0" dirty="0">
                          <a:solidFill>
                            <a:srgbClr val="2B049A"/>
                          </a:solidFill>
                          <a:latin typeface="Times New Roman" panose="02020603050405020304" pitchFamily="18" charset="0"/>
                          <a:cs typeface="Times New Roman" panose="02020603050405020304" pitchFamily="18" charset="0"/>
                        </a:rPr>
                        <a:t>&amp; Financial feasibility</a:t>
                      </a:r>
                      <a:endParaRPr lang="en-US" sz="1800" dirty="0">
                        <a:solidFill>
                          <a:srgbClr val="2B049A"/>
                        </a:solidFill>
                        <a:latin typeface="Times New Roman" panose="02020603050405020304" pitchFamily="18" charset="0"/>
                        <a:cs typeface="Times New Roman" panose="02020603050405020304" pitchFamily="18" charset="0"/>
                      </a:endParaRPr>
                    </a:p>
                  </a:txBody>
                  <a:tcPr marT="45712" marB="45712"/>
                </a:tc>
                <a:tc>
                  <a:txBody>
                    <a:bodyPr/>
                    <a:lstStyle/>
                    <a:p>
                      <a:pPr algn="ctr"/>
                      <a:r>
                        <a:rPr lang="en-US" sz="1800" dirty="0">
                          <a:solidFill>
                            <a:srgbClr val="2B049A"/>
                          </a:solidFill>
                          <a:latin typeface="Times New Roman" panose="02020603050405020304" pitchFamily="18" charset="0"/>
                          <a:cs typeface="Times New Roman" panose="02020603050405020304" pitchFamily="18" charset="0"/>
                        </a:rPr>
                        <a:t>19</a:t>
                      </a:r>
                    </a:p>
                  </a:txBody>
                  <a:tcPr marT="45712" marB="45712"/>
                </a:tc>
                <a:extLst>
                  <a:ext uri="{0D108BD9-81ED-4DB2-BD59-A6C34878D82A}">
                    <a16:rowId xmlns:a16="http://schemas.microsoft.com/office/drawing/2014/main" val="10008"/>
                  </a:ext>
                </a:extLst>
              </a:tr>
              <a:tr h="370769">
                <a:tc>
                  <a:txBody>
                    <a:bodyPr/>
                    <a:lstStyle/>
                    <a:p>
                      <a:pPr algn="ctr"/>
                      <a:r>
                        <a:rPr lang="en-US" sz="1800" dirty="0">
                          <a:solidFill>
                            <a:srgbClr val="2B049A"/>
                          </a:solidFill>
                          <a:latin typeface="Times New Roman" panose="02020603050405020304" pitchFamily="18" charset="0"/>
                          <a:cs typeface="Times New Roman" panose="02020603050405020304" pitchFamily="18" charset="0"/>
                        </a:rPr>
                        <a:t>9</a:t>
                      </a:r>
                    </a:p>
                  </a:txBody>
                  <a:tcPr marT="45712" marB="45712"/>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2B049A"/>
                          </a:solidFill>
                          <a:latin typeface="Times New Roman" panose="02020603050405020304" pitchFamily="18" charset="0"/>
                          <a:cs typeface="Times New Roman" panose="02020603050405020304" pitchFamily="18" charset="0"/>
                        </a:rPr>
                        <a:t>Outcome of the Projects</a:t>
                      </a:r>
                    </a:p>
                  </a:txBody>
                  <a:tcPr marT="45712" marB="45712"/>
                </a:tc>
                <a:tc>
                  <a:txBody>
                    <a:bodyPr/>
                    <a:lstStyle/>
                    <a:p>
                      <a:pPr algn="ctr"/>
                      <a:r>
                        <a:rPr lang="en-US" sz="1800" dirty="0">
                          <a:solidFill>
                            <a:srgbClr val="2B049A"/>
                          </a:solidFill>
                          <a:latin typeface="Times New Roman" panose="02020603050405020304" pitchFamily="18" charset="0"/>
                          <a:cs typeface="Times New Roman" panose="02020603050405020304" pitchFamily="18" charset="0"/>
                        </a:rPr>
                        <a:t>20</a:t>
                      </a:r>
                    </a:p>
                  </a:txBody>
                  <a:tcPr marT="45712" marB="45712"/>
                </a:tc>
                <a:extLst>
                  <a:ext uri="{0D108BD9-81ED-4DB2-BD59-A6C34878D82A}">
                    <a16:rowId xmlns:a16="http://schemas.microsoft.com/office/drawing/2014/main" val="10009"/>
                  </a:ext>
                </a:extLst>
              </a:tr>
              <a:tr h="370769">
                <a:tc>
                  <a:txBody>
                    <a:bodyPr/>
                    <a:lstStyle/>
                    <a:p>
                      <a:pPr marL="0" algn="ctr" defTabSz="914400" rtl="0" eaLnBrk="1" latinLnBrk="0" hangingPunct="1"/>
                      <a:r>
                        <a:rPr lang="en-US" sz="1800" kern="1200" dirty="0">
                          <a:solidFill>
                            <a:srgbClr val="2B049A"/>
                          </a:solidFill>
                          <a:latin typeface="Times New Roman" panose="02020603050405020304" pitchFamily="18" charset="0"/>
                          <a:ea typeface="+mn-ea"/>
                          <a:cs typeface="Times New Roman" panose="02020603050405020304" pitchFamily="18" charset="0"/>
                        </a:rPr>
                        <a:t>10</a:t>
                      </a:r>
                      <a:endParaRPr lang="en-IN" sz="1800" kern="1200" dirty="0">
                        <a:solidFill>
                          <a:srgbClr val="2B049A"/>
                        </a:solidFill>
                        <a:latin typeface="Times New Roman" panose="02020603050405020304" pitchFamily="18" charset="0"/>
                        <a:ea typeface="+mn-ea"/>
                        <a:cs typeface="Times New Roman" panose="02020603050405020304" pitchFamily="18" charset="0"/>
                      </a:endParaRPr>
                    </a:p>
                  </a:txBody>
                  <a:tcPr marT="45712" marB="45712"/>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2B049A"/>
                          </a:solidFill>
                          <a:latin typeface="Times New Roman" panose="02020603050405020304" pitchFamily="18" charset="0"/>
                          <a:cs typeface="Times New Roman" panose="02020603050405020304" pitchFamily="18" charset="0"/>
                        </a:rPr>
                        <a:t>Participation in events (Patent,</a:t>
                      </a:r>
                      <a:r>
                        <a:rPr lang="en-US" sz="1800" baseline="0" dirty="0">
                          <a:solidFill>
                            <a:srgbClr val="2B049A"/>
                          </a:solidFill>
                          <a:latin typeface="Times New Roman" panose="02020603050405020304" pitchFamily="18" charset="0"/>
                          <a:cs typeface="Times New Roman" panose="02020603050405020304" pitchFamily="18" charset="0"/>
                        </a:rPr>
                        <a:t> Paper, </a:t>
                      </a:r>
                      <a:r>
                        <a:rPr lang="en-US" sz="1800" baseline="0" dirty="0" err="1">
                          <a:solidFill>
                            <a:srgbClr val="2B049A"/>
                          </a:solidFill>
                          <a:latin typeface="Times New Roman" panose="02020603050405020304" pitchFamily="18" charset="0"/>
                          <a:cs typeface="Times New Roman" panose="02020603050405020304" pitchFamily="18" charset="0"/>
                        </a:rPr>
                        <a:t>Hackatons</a:t>
                      </a:r>
                      <a:r>
                        <a:rPr lang="en-US" sz="1800" baseline="0" dirty="0">
                          <a:solidFill>
                            <a:srgbClr val="2B049A"/>
                          </a:solidFill>
                          <a:latin typeface="Times New Roman" panose="02020603050405020304" pitchFamily="18" charset="0"/>
                          <a:cs typeface="Times New Roman" panose="02020603050405020304" pitchFamily="18" charset="0"/>
                        </a:rPr>
                        <a:t> etc.,) – applied / published / granted </a:t>
                      </a:r>
                      <a:endParaRPr lang="en-US" sz="1800" dirty="0">
                        <a:solidFill>
                          <a:srgbClr val="2B049A"/>
                        </a:solidFill>
                        <a:latin typeface="Times New Roman" panose="02020603050405020304" pitchFamily="18" charset="0"/>
                        <a:cs typeface="Times New Roman" panose="02020603050405020304" pitchFamily="18" charset="0"/>
                      </a:endParaRPr>
                    </a:p>
                  </a:txBody>
                  <a:tcPr marT="45712" marB="45712"/>
                </a:tc>
                <a:tc>
                  <a:txBody>
                    <a:bodyPr/>
                    <a:lstStyle/>
                    <a:p>
                      <a:pPr algn="ctr"/>
                      <a:r>
                        <a:rPr lang="en-US" sz="1800" dirty="0">
                          <a:solidFill>
                            <a:srgbClr val="2B049A"/>
                          </a:solidFill>
                          <a:latin typeface="Times New Roman" panose="02020603050405020304" pitchFamily="18" charset="0"/>
                          <a:cs typeface="Times New Roman" panose="02020603050405020304" pitchFamily="18" charset="0"/>
                        </a:rPr>
                        <a:t>21</a:t>
                      </a:r>
                    </a:p>
                  </a:txBody>
                  <a:tcPr marT="45712" marB="45712"/>
                </a:tc>
                <a:extLst>
                  <a:ext uri="{0D108BD9-81ED-4DB2-BD59-A6C34878D82A}">
                    <a16:rowId xmlns:a16="http://schemas.microsoft.com/office/drawing/2014/main" val="10010"/>
                  </a:ext>
                </a:extLst>
              </a:tr>
              <a:tr h="370769">
                <a:tc>
                  <a:txBody>
                    <a:bodyPr/>
                    <a:lstStyle/>
                    <a:p>
                      <a:pPr marL="0" algn="ctr" defTabSz="914400" rtl="0" eaLnBrk="1" latinLnBrk="0" hangingPunct="1"/>
                      <a:r>
                        <a:rPr lang="en-US" sz="1800" kern="1200" dirty="0">
                          <a:solidFill>
                            <a:srgbClr val="2B049A"/>
                          </a:solidFill>
                          <a:latin typeface="Times New Roman" panose="02020603050405020304" pitchFamily="18" charset="0"/>
                          <a:ea typeface="+mn-ea"/>
                          <a:cs typeface="Times New Roman" panose="02020603050405020304" pitchFamily="18" charset="0"/>
                        </a:rPr>
                        <a:t>11</a:t>
                      </a:r>
                      <a:endParaRPr lang="en-IN" sz="1800" kern="1200" dirty="0">
                        <a:solidFill>
                          <a:srgbClr val="2B049A"/>
                        </a:solidFill>
                        <a:latin typeface="Times New Roman" panose="02020603050405020304" pitchFamily="18" charset="0"/>
                        <a:ea typeface="+mn-ea"/>
                        <a:cs typeface="Times New Roman" panose="02020603050405020304" pitchFamily="18" charset="0"/>
                      </a:endParaRPr>
                    </a:p>
                  </a:txBody>
                  <a:tcPr marT="45712" marB="45712"/>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a:solidFill>
                            <a:srgbClr val="2B049A"/>
                          </a:solidFill>
                          <a:latin typeface="Times New Roman" panose="02020603050405020304" pitchFamily="18" charset="0"/>
                          <a:cs typeface="Times New Roman" panose="02020603050405020304" pitchFamily="18" charset="0"/>
                        </a:rPr>
                        <a:t>SDG Goals &amp; References</a:t>
                      </a:r>
                    </a:p>
                  </a:txBody>
                  <a:tcPr marT="45712" marB="45712"/>
                </a:tc>
                <a:tc>
                  <a:txBody>
                    <a:bodyPr/>
                    <a:lstStyle/>
                    <a:p>
                      <a:pPr algn="ctr"/>
                      <a:r>
                        <a:rPr lang="en-US" sz="1800" dirty="0">
                          <a:solidFill>
                            <a:srgbClr val="2B049A"/>
                          </a:solidFill>
                          <a:latin typeface="Times New Roman" panose="02020603050405020304" pitchFamily="18" charset="0"/>
                          <a:cs typeface="Times New Roman" panose="02020603050405020304" pitchFamily="18" charset="0"/>
                        </a:rPr>
                        <a:t>22-23</a:t>
                      </a:r>
                    </a:p>
                  </a:txBody>
                  <a:tcPr marT="45712" marB="45712"/>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985026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04552" y="217025"/>
            <a:ext cx="6777508" cy="639202"/>
          </a:xfrm>
        </p:spPr>
        <p:txBody>
          <a:bodyPr/>
          <a:lstStyle/>
          <a:p>
            <a:br>
              <a:rPr lang="en-IN" sz="2800" b="0" dirty="0">
                <a:solidFill>
                  <a:srgbClr val="660066"/>
                </a:solidFill>
                <a:latin typeface="Arial" panose="020B0604020202020204" pitchFamily="34" charset="0"/>
                <a:cs typeface="Arial" panose="020B0604020202020204" pitchFamily="34" charset="0"/>
              </a:rPr>
            </a:br>
            <a:r>
              <a:rPr lang="en-IN" sz="2800" b="0" dirty="0">
                <a:solidFill>
                  <a:srgbClr val="660066"/>
                </a:solidFill>
                <a:latin typeface="Arial" panose="020B0604020202020204" pitchFamily="34" charset="0"/>
                <a:cs typeface="Arial" panose="020B0604020202020204" pitchFamily="34" charset="0"/>
              </a:rPr>
              <a:t> </a:t>
            </a:r>
            <a:endParaRPr lang="en-IN" sz="2800" dirty="0">
              <a:solidFill>
                <a:srgbClr val="660066"/>
              </a:solidFill>
              <a:latin typeface="Arial" panose="020B0604020202020204" pitchFamily="34" charset="0"/>
              <a:cs typeface="Arial" panose="020B0604020202020204" pitchFamily="34" charset="0"/>
            </a:endParaRPr>
          </a:p>
        </p:txBody>
      </p:sp>
      <p:sp>
        <p:nvSpPr>
          <p:cNvPr id="3" name="Subtitle 2"/>
          <p:cNvSpPr>
            <a:spLocks noGrp="1"/>
          </p:cNvSpPr>
          <p:nvPr>
            <p:ph type="subTitle" idx="1"/>
          </p:nvPr>
        </p:nvSpPr>
        <p:spPr>
          <a:xfrm>
            <a:off x="362857" y="1318327"/>
            <a:ext cx="8418286" cy="5307760"/>
          </a:xfrm>
        </p:spPr>
        <p:txBody>
          <a:bodyPr>
            <a:noAutofit/>
          </a:bodyPr>
          <a:lstStyle/>
          <a:p>
            <a:pPr marL="342900" indent="-342900" algn="just">
              <a:buFont typeface="Arial" panose="020B0604020202020204" pitchFamily="34" charset="0"/>
              <a:buChar char="•"/>
            </a:pPr>
            <a:r>
              <a:rPr lang="en-US" sz="2200" dirty="0">
                <a:solidFill>
                  <a:srgbClr val="FF0000"/>
                </a:solidFill>
              </a:rPr>
              <a:t>In many colleges, event updates and announcements are conveyed manually via students/class Representatives.</a:t>
            </a:r>
          </a:p>
          <a:p>
            <a:pPr marL="342900" indent="-342900" algn="just">
              <a:buFont typeface="Arial" panose="020B0604020202020204" pitchFamily="34" charset="0"/>
              <a:buChar char="•"/>
            </a:pPr>
            <a:r>
              <a:rPr lang="en-US" sz="2200" dirty="0">
                <a:solidFill>
                  <a:srgbClr val="FF0000"/>
                </a:solidFill>
              </a:rPr>
              <a:t>Social media is not specifically built for college needs—thus missing relevant academic features..….</a:t>
            </a:r>
          </a:p>
          <a:p>
            <a:pPr marL="342900" indent="-342900" algn="just">
              <a:buFont typeface="Arial" panose="020B0604020202020204" pitchFamily="34" charset="0"/>
              <a:buChar char="•"/>
            </a:pPr>
            <a:r>
              <a:rPr lang="en-US" sz="2200" dirty="0">
                <a:solidFill>
                  <a:srgbClr val="FF0000"/>
                </a:solidFill>
              </a:rPr>
              <a:t>There is no dedicated platform that provides access to past year question papers and academic materials in an organized way. Our chatbot has been enhanced to share links to past year question papers upon request instantly. </a:t>
            </a:r>
          </a:p>
          <a:p>
            <a:pPr marL="342900" indent="-342900" algn="just">
              <a:buFont typeface="Arial" panose="020B0604020202020204" pitchFamily="34" charset="0"/>
              <a:buChar char="•"/>
            </a:pPr>
            <a:r>
              <a:rPr lang="en-US" sz="2200" dirty="0">
                <a:solidFill>
                  <a:srgbClr val="FF0000"/>
                </a:solidFill>
              </a:rPr>
              <a:t>Some institutions use Learning Management Systems (LMS) like Moodle or Google Classroom, but they do not integrate chatbot-based FAQs, social interaction, or student analytics in one platform.</a:t>
            </a:r>
          </a:p>
          <a:p>
            <a:pPr marL="342900" indent="-342900" algn="just">
              <a:buFont typeface="Arial" panose="020B0604020202020204" pitchFamily="34" charset="0"/>
              <a:buChar char="•"/>
            </a:pPr>
            <a:r>
              <a:rPr lang="en-US" sz="2200" dirty="0">
                <a:solidFill>
                  <a:srgbClr val="FF0000"/>
                </a:solidFill>
              </a:rPr>
              <a:t>Our project addresses these gaps through a unified web platform with Firebase, an AI-powered FAQ Chatbot, and an NLP-based text analyzer.</a:t>
            </a:r>
          </a:p>
          <a:p>
            <a:pPr algn="just"/>
            <a:endParaRPr lang="en-IN" sz="2000" dirty="0">
              <a:solidFill>
                <a:srgbClr val="002060"/>
              </a:solidFill>
              <a:latin typeface="Arial" panose="020B0604020202020204" pitchFamily="34" charset="0"/>
              <a:cs typeface="Arial" panose="020B0604020202020204" pitchFamily="34" charset="0"/>
            </a:endParaRPr>
          </a:p>
        </p:txBody>
      </p:sp>
      <p:sp>
        <p:nvSpPr>
          <p:cNvPr id="4" name="Date Placeholder 3"/>
          <p:cNvSpPr>
            <a:spLocks noGrp="1"/>
          </p:cNvSpPr>
          <p:nvPr>
            <p:ph type="dt" sz="half" idx="10"/>
          </p:nvPr>
        </p:nvSpPr>
        <p:spPr/>
        <p:txBody>
          <a:bodyPr/>
          <a:lstStyle/>
          <a:p>
            <a:r>
              <a:rPr lang="en-US" dirty="0"/>
              <a:t>14.03.2026</a:t>
            </a:r>
            <a:endParaRPr lang="en-IN" dirty="0"/>
          </a:p>
        </p:txBody>
      </p:sp>
      <p:sp>
        <p:nvSpPr>
          <p:cNvPr id="5" name="Footer Placeholder 4"/>
          <p:cNvSpPr>
            <a:spLocks noGrp="1"/>
          </p:cNvSpPr>
          <p:nvPr>
            <p:ph type="ftr" sz="quarter" idx="11"/>
          </p:nvPr>
        </p:nvSpPr>
        <p:spPr/>
        <p:txBody>
          <a:bodyPr/>
          <a:lstStyle/>
          <a:p>
            <a:r>
              <a:rPr lang="en-US" b="1" dirty="0"/>
              <a:t>SREC-CSE</a:t>
            </a:r>
            <a:endParaRPr lang="en-IN" b="1" dirty="0"/>
          </a:p>
        </p:txBody>
      </p:sp>
      <p:sp>
        <p:nvSpPr>
          <p:cNvPr id="6" name="Slide Number Placeholder 5"/>
          <p:cNvSpPr>
            <a:spLocks noGrp="1"/>
          </p:cNvSpPr>
          <p:nvPr>
            <p:ph type="sldNum" sz="quarter" idx="12"/>
          </p:nvPr>
        </p:nvSpPr>
        <p:spPr/>
        <p:txBody>
          <a:bodyPr/>
          <a:lstStyle/>
          <a:p>
            <a:r>
              <a:rPr lang="en-US" dirty="0"/>
              <a:t>3</a:t>
            </a:r>
            <a:endParaRPr lang="en-IN" dirty="0"/>
          </a:p>
        </p:txBody>
      </p:sp>
      <p:sp>
        <p:nvSpPr>
          <p:cNvPr id="7" name="Rectangle 6"/>
          <p:cNvSpPr/>
          <p:nvPr/>
        </p:nvSpPr>
        <p:spPr>
          <a:xfrm>
            <a:off x="1516487" y="292009"/>
            <a:ext cx="6111025" cy="523220"/>
          </a:xfrm>
          <a:prstGeom prst="rect">
            <a:avLst/>
          </a:prstGeom>
        </p:spPr>
        <p:txBody>
          <a:bodyPr wrap="square">
            <a:spAutoFit/>
          </a:bodyPr>
          <a:lstStyle/>
          <a:p>
            <a:pPr algn="ctr"/>
            <a:r>
              <a:rPr lang="en-US" sz="2800" b="1" dirty="0">
                <a:solidFill>
                  <a:schemeClr val="accent6">
                    <a:lumMod val="50000"/>
                  </a:schemeClr>
                </a:solidFill>
                <a:latin typeface="Arial" panose="020B0604020202020204" pitchFamily="34" charset="0"/>
                <a:cs typeface="Arial" panose="020B0604020202020204" pitchFamily="34" charset="0"/>
              </a:rPr>
              <a:t>Introduction</a:t>
            </a:r>
            <a:endParaRPr lang="en-IN" sz="2800" dirty="0">
              <a:solidFill>
                <a:schemeClr val="accent6">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3368357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04552" y="217025"/>
            <a:ext cx="6777508" cy="639202"/>
          </a:xfrm>
        </p:spPr>
        <p:txBody>
          <a:bodyPr/>
          <a:lstStyle/>
          <a:p>
            <a:br>
              <a:rPr lang="en-IN" sz="2800" b="0" dirty="0">
                <a:solidFill>
                  <a:srgbClr val="660066"/>
                </a:solidFill>
                <a:latin typeface="Arial" panose="020B0604020202020204" pitchFamily="34" charset="0"/>
                <a:cs typeface="Arial" panose="020B0604020202020204" pitchFamily="34" charset="0"/>
              </a:rPr>
            </a:br>
            <a:r>
              <a:rPr lang="en-IN" sz="2800" b="0" dirty="0">
                <a:solidFill>
                  <a:srgbClr val="660066"/>
                </a:solidFill>
                <a:latin typeface="Arial" panose="020B0604020202020204" pitchFamily="34" charset="0"/>
                <a:cs typeface="Arial" panose="020B0604020202020204" pitchFamily="34" charset="0"/>
              </a:rPr>
              <a:t> </a:t>
            </a:r>
            <a:endParaRPr lang="en-IN" sz="2800" dirty="0">
              <a:solidFill>
                <a:srgbClr val="660066"/>
              </a:solidFill>
              <a:latin typeface="Arial" panose="020B0604020202020204" pitchFamily="34" charset="0"/>
              <a:cs typeface="Arial" panose="020B0604020202020204" pitchFamily="34" charset="0"/>
            </a:endParaRPr>
          </a:p>
        </p:txBody>
      </p:sp>
      <p:sp>
        <p:nvSpPr>
          <p:cNvPr id="3" name="Subtitle 2"/>
          <p:cNvSpPr>
            <a:spLocks noGrp="1"/>
          </p:cNvSpPr>
          <p:nvPr>
            <p:ph type="subTitle" idx="1"/>
          </p:nvPr>
        </p:nvSpPr>
        <p:spPr>
          <a:xfrm>
            <a:off x="362857" y="1318327"/>
            <a:ext cx="8418286" cy="5307760"/>
          </a:xfrm>
        </p:spPr>
        <p:txBody>
          <a:bodyPr>
            <a:noAutofit/>
          </a:bodyPr>
          <a:lstStyle/>
          <a:p>
            <a:pPr algn="just">
              <a:defRPr/>
            </a:pPr>
            <a:endParaRPr lang="en-US" b="1" dirty="0">
              <a:solidFill>
                <a:srgbClr val="FF0000"/>
              </a:solidFill>
              <a:latin typeface="Times New Roman" panose="02020603050405020304" pitchFamily="18" charset="0"/>
              <a:cs typeface="Times New Roman" panose="02020603050405020304" pitchFamily="18" charset="0"/>
            </a:endParaRPr>
          </a:p>
          <a:p>
            <a:pPr algn="just">
              <a:defRPr/>
            </a:pPr>
            <a:r>
              <a:rPr lang="en-US" b="1" dirty="0">
                <a:solidFill>
                  <a:srgbClr val="FF0000"/>
                </a:solidFill>
                <a:latin typeface="Times New Roman" panose="02020603050405020304" pitchFamily="18" charset="0"/>
                <a:cs typeface="Times New Roman" panose="02020603050405020304" pitchFamily="18" charset="0"/>
              </a:rPr>
              <a:t>Problem Definition </a:t>
            </a:r>
            <a:endParaRPr lang="en-IN" b="1" dirty="0">
              <a:solidFill>
                <a:srgbClr val="FF0000"/>
              </a:solidFill>
              <a:latin typeface="Times New Roman" panose="02020603050405020304" pitchFamily="18" charset="0"/>
              <a:cs typeface="Times New Roman" panose="02020603050405020304" pitchFamily="18" charset="0"/>
            </a:endParaRPr>
          </a:p>
          <a:p>
            <a:pPr algn="just">
              <a:defRPr/>
            </a:pPr>
            <a:endParaRPr lang="en-IN" sz="2000" b="1" dirty="0">
              <a:solidFill>
                <a:srgbClr val="FF0000"/>
              </a:solidFill>
              <a:latin typeface="Times New Roman" panose="02020603050405020304" pitchFamily="18" charset="0"/>
              <a:cs typeface="Times New Roman" panose="02020603050405020304" pitchFamily="18" charset="0"/>
            </a:endParaRPr>
          </a:p>
          <a:p>
            <a:pPr algn="just">
              <a:defRPr/>
            </a:pPr>
            <a:endParaRPr lang="en-IN" sz="2000" b="1" dirty="0">
              <a:solidFill>
                <a:srgbClr val="FF0000"/>
              </a:solidFill>
              <a:latin typeface="Times New Roman" panose="02020603050405020304" pitchFamily="18" charset="0"/>
              <a:cs typeface="Times New Roman" panose="02020603050405020304" pitchFamily="18" charset="0"/>
            </a:endParaRPr>
          </a:p>
          <a:p>
            <a:pPr algn="just">
              <a:defRPr/>
            </a:pPr>
            <a:endParaRPr lang="en-IN" sz="2000" b="1" dirty="0">
              <a:solidFill>
                <a:srgbClr val="FF0000"/>
              </a:solidFill>
              <a:latin typeface="Times New Roman" panose="02020603050405020304" pitchFamily="18" charset="0"/>
              <a:cs typeface="Times New Roman" panose="02020603050405020304" pitchFamily="18" charset="0"/>
            </a:endParaRPr>
          </a:p>
          <a:p>
            <a:pPr algn="just">
              <a:defRPr/>
            </a:pPr>
            <a:endParaRPr lang="en-IN" sz="2000" b="1" dirty="0">
              <a:solidFill>
                <a:srgbClr val="FF0000"/>
              </a:solidFill>
              <a:latin typeface="Times New Roman" panose="02020603050405020304" pitchFamily="18" charset="0"/>
              <a:cs typeface="Times New Roman" panose="02020603050405020304" pitchFamily="18" charset="0"/>
            </a:endParaRPr>
          </a:p>
          <a:p>
            <a:pPr algn="just">
              <a:defRPr/>
            </a:pPr>
            <a:endParaRPr lang="en-IN" sz="2000" b="1" dirty="0">
              <a:solidFill>
                <a:srgbClr val="FF0000"/>
              </a:solidFill>
              <a:latin typeface="Times New Roman" panose="02020603050405020304" pitchFamily="18" charset="0"/>
              <a:cs typeface="Times New Roman" panose="02020603050405020304" pitchFamily="18" charset="0"/>
            </a:endParaRPr>
          </a:p>
          <a:p>
            <a:pPr algn="just">
              <a:defRPr/>
            </a:pPr>
            <a:r>
              <a:rPr lang="en-US" b="1" dirty="0">
                <a:solidFill>
                  <a:srgbClr val="FF0000"/>
                </a:solidFill>
                <a:latin typeface="Times New Roman" panose="02020603050405020304" pitchFamily="18" charset="0"/>
                <a:cs typeface="Times New Roman" panose="02020603050405020304" pitchFamily="18" charset="0"/>
              </a:rPr>
              <a:t>Scope</a:t>
            </a:r>
            <a:endParaRPr lang="en-IN" b="1" dirty="0">
              <a:solidFill>
                <a:srgbClr val="FF0000"/>
              </a:solidFill>
              <a:latin typeface="Times New Roman" panose="02020603050405020304" pitchFamily="18" charset="0"/>
              <a:cs typeface="Times New Roman" panose="02020603050405020304" pitchFamily="18" charset="0"/>
            </a:endParaRPr>
          </a:p>
          <a:p>
            <a:pPr algn="just"/>
            <a:r>
              <a:rPr lang="en-IN" sz="2000" dirty="0">
                <a:solidFill>
                  <a:srgbClr val="002060"/>
                </a:solidFill>
                <a:latin typeface="Arial" panose="020B0604020202020204" pitchFamily="34" charset="0"/>
                <a:cs typeface="Arial" panose="020B0604020202020204" pitchFamily="34" charset="0"/>
              </a:rPr>
              <a:t> </a:t>
            </a:r>
            <a:r>
              <a:rPr lang="en-US" dirty="0"/>
              <a:t>A secure, college-only platform for SREC where students can post content, view club events, access past papers, and get real-time help through an AI chatbot — all in one place to boost academic and social engagement.</a:t>
            </a:r>
            <a:endParaRPr lang="en-IN" dirty="0">
              <a:solidFill>
                <a:srgbClr val="002060"/>
              </a:solidFill>
              <a:latin typeface="Arial" panose="020B0604020202020204" pitchFamily="34" charset="0"/>
              <a:cs typeface="Arial" panose="020B0604020202020204" pitchFamily="34" charset="0"/>
            </a:endParaRPr>
          </a:p>
        </p:txBody>
      </p:sp>
      <p:sp>
        <p:nvSpPr>
          <p:cNvPr id="4" name="Date Placeholder 3"/>
          <p:cNvSpPr>
            <a:spLocks noGrp="1"/>
          </p:cNvSpPr>
          <p:nvPr>
            <p:ph type="dt" sz="half" idx="10"/>
          </p:nvPr>
        </p:nvSpPr>
        <p:spPr/>
        <p:txBody>
          <a:bodyPr/>
          <a:lstStyle/>
          <a:p>
            <a:r>
              <a:rPr lang="en-US" dirty="0"/>
              <a:t>14.03.2026</a:t>
            </a:r>
            <a:endParaRPr lang="en-IN" dirty="0"/>
          </a:p>
          <a:p>
            <a:endParaRPr lang="en-IN" dirty="0"/>
          </a:p>
        </p:txBody>
      </p:sp>
      <p:sp>
        <p:nvSpPr>
          <p:cNvPr id="5" name="Footer Placeholder 4"/>
          <p:cNvSpPr>
            <a:spLocks noGrp="1"/>
          </p:cNvSpPr>
          <p:nvPr>
            <p:ph type="ftr" sz="quarter" idx="11"/>
          </p:nvPr>
        </p:nvSpPr>
        <p:spPr/>
        <p:txBody>
          <a:bodyPr/>
          <a:lstStyle/>
          <a:p>
            <a:r>
              <a:rPr lang="en-US" b="1" dirty="0"/>
              <a:t>SREC-CSE</a:t>
            </a:r>
            <a:endParaRPr lang="en-IN" b="1" dirty="0"/>
          </a:p>
        </p:txBody>
      </p:sp>
      <p:sp>
        <p:nvSpPr>
          <p:cNvPr id="6" name="Slide Number Placeholder 5"/>
          <p:cNvSpPr>
            <a:spLocks noGrp="1"/>
          </p:cNvSpPr>
          <p:nvPr>
            <p:ph type="sldNum" sz="quarter" idx="12"/>
          </p:nvPr>
        </p:nvSpPr>
        <p:spPr/>
        <p:txBody>
          <a:bodyPr/>
          <a:lstStyle/>
          <a:p>
            <a:r>
              <a:rPr lang="en-US" dirty="0"/>
              <a:t>3</a:t>
            </a:r>
            <a:endParaRPr lang="en-IN" dirty="0"/>
          </a:p>
        </p:txBody>
      </p:sp>
      <p:sp>
        <p:nvSpPr>
          <p:cNvPr id="7" name="Rectangle 6"/>
          <p:cNvSpPr/>
          <p:nvPr/>
        </p:nvSpPr>
        <p:spPr>
          <a:xfrm>
            <a:off x="1516487" y="292009"/>
            <a:ext cx="6111025" cy="707886"/>
          </a:xfrm>
          <a:prstGeom prst="rect">
            <a:avLst/>
          </a:prstGeom>
        </p:spPr>
        <p:txBody>
          <a:bodyPr wrap="square">
            <a:spAutoFit/>
          </a:bodyPr>
          <a:lstStyle/>
          <a:p>
            <a:pPr algn="ctr"/>
            <a:r>
              <a:rPr lang="en-US" sz="2000" b="1" dirty="0">
                <a:solidFill>
                  <a:schemeClr val="accent6">
                    <a:lumMod val="50000"/>
                  </a:schemeClr>
                </a:solidFill>
                <a:latin typeface="Arial" panose="020B0604020202020204" pitchFamily="34" charset="0"/>
                <a:cs typeface="Arial" panose="020B0604020202020204" pitchFamily="34" charset="0"/>
              </a:rPr>
              <a:t>Problem identification, scope and objectives (Contd.,)</a:t>
            </a:r>
            <a:endParaRPr lang="en-IN" sz="2000" dirty="0">
              <a:solidFill>
                <a:schemeClr val="accent6">
                  <a:lumMod val="50000"/>
                </a:schemeClr>
              </a:solidFill>
              <a:latin typeface="Arial" panose="020B0604020202020204" pitchFamily="34" charset="0"/>
              <a:cs typeface="Arial" panose="020B0604020202020204" pitchFamily="34" charset="0"/>
            </a:endParaRPr>
          </a:p>
        </p:txBody>
      </p:sp>
      <p:sp>
        <p:nvSpPr>
          <p:cNvPr id="9" name="TextBox 8">
            <a:extLst>
              <a:ext uri="{FF2B5EF4-FFF2-40B4-BE49-F238E27FC236}">
                <a16:creationId xmlns:a16="http://schemas.microsoft.com/office/drawing/2014/main" id="{C7FFD3C4-5689-1A63-C00C-F72E5EDE1A79}"/>
              </a:ext>
            </a:extLst>
          </p:cNvPr>
          <p:cNvSpPr txBox="1"/>
          <p:nvPr/>
        </p:nvSpPr>
        <p:spPr>
          <a:xfrm>
            <a:off x="362858" y="1691443"/>
            <a:ext cx="8239722" cy="2308324"/>
          </a:xfrm>
          <a:prstGeom prst="rect">
            <a:avLst/>
          </a:prstGeom>
          <a:noFill/>
        </p:spPr>
        <p:txBody>
          <a:bodyPr wrap="square">
            <a:spAutoFit/>
          </a:bodyPr>
          <a:lstStyle/>
          <a:p>
            <a:pPr>
              <a:defRPr/>
            </a:pPr>
            <a:endParaRPr lang="en-US" sz="2400" dirty="0"/>
          </a:p>
          <a:p>
            <a:pPr>
              <a:defRPr/>
            </a:pPr>
            <a:r>
              <a:rPr lang="en-US" sz="2400" dirty="0"/>
              <a:t>Students lack a </a:t>
            </a:r>
            <a:r>
              <a:rPr lang="en-US" sz="2400" b="1" dirty="0"/>
              <a:t>dedicated, secure, and interactive college platform</a:t>
            </a:r>
            <a:r>
              <a:rPr lang="en-US" sz="2400" dirty="0"/>
              <a:t> for communication, event updates, academic resources, and FAQs. Existing solutions (social media groups, notice boards) are fragmented, unreliable, and not tailored to college needs.</a:t>
            </a:r>
          </a:p>
        </p:txBody>
      </p:sp>
    </p:spTree>
    <p:extLst>
      <p:ext uri="{BB962C8B-B14F-4D97-AF65-F5344CB8AC3E}">
        <p14:creationId xmlns:p14="http://schemas.microsoft.com/office/powerpoint/2010/main" val="22881507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04552" y="217025"/>
            <a:ext cx="6777508" cy="639202"/>
          </a:xfrm>
        </p:spPr>
        <p:txBody>
          <a:bodyPr/>
          <a:lstStyle/>
          <a:p>
            <a:br>
              <a:rPr lang="en-IN" sz="2800" b="0" dirty="0">
                <a:solidFill>
                  <a:srgbClr val="660066"/>
                </a:solidFill>
                <a:latin typeface="Arial" panose="020B0604020202020204" pitchFamily="34" charset="0"/>
                <a:cs typeface="Arial" panose="020B0604020202020204" pitchFamily="34" charset="0"/>
              </a:rPr>
            </a:br>
            <a:r>
              <a:rPr lang="en-IN" sz="2800" b="0" dirty="0">
                <a:solidFill>
                  <a:srgbClr val="660066"/>
                </a:solidFill>
                <a:latin typeface="Arial" panose="020B0604020202020204" pitchFamily="34" charset="0"/>
                <a:cs typeface="Arial" panose="020B0604020202020204" pitchFamily="34" charset="0"/>
              </a:rPr>
              <a:t> </a:t>
            </a:r>
            <a:endParaRPr lang="en-IN" sz="2800" dirty="0">
              <a:solidFill>
                <a:srgbClr val="660066"/>
              </a:solidFill>
              <a:latin typeface="Arial" panose="020B0604020202020204" pitchFamily="34" charset="0"/>
              <a:cs typeface="Arial" panose="020B0604020202020204" pitchFamily="34" charset="0"/>
            </a:endParaRPr>
          </a:p>
        </p:txBody>
      </p:sp>
      <p:sp>
        <p:nvSpPr>
          <p:cNvPr id="3" name="Subtitle 2"/>
          <p:cNvSpPr>
            <a:spLocks noGrp="1"/>
          </p:cNvSpPr>
          <p:nvPr>
            <p:ph type="subTitle" idx="1"/>
          </p:nvPr>
        </p:nvSpPr>
        <p:spPr>
          <a:xfrm>
            <a:off x="362857" y="1318327"/>
            <a:ext cx="8418286" cy="5307760"/>
          </a:xfrm>
        </p:spPr>
        <p:txBody>
          <a:bodyPr>
            <a:noAutofit/>
          </a:bodyPr>
          <a:lstStyle/>
          <a:p>
            <a:pPr algn="just"/>
            <a:r>
              <a:rPr lang="en-IN" sz="2000" dirty="0">
                <a:solidFill>
                  <a:srgbClr val="002060"/>
                </a:solidFill>
                <a:latin typeface="Arial" panose="020B0604020202020204" pitchFamily="34" charset="0"/>
                <a:cs typeface="Arial" panose="020B0604020202020204" pitchFamily="34" charset="0"/>
              </a:rPr>
              <a:t> </a:t>
            </a:r>
          </a:p>
        </p:txBody>
      </p:sp>
      <p:sp>
        <p:nvSpPr>
          <p:cNvPr id="4" name="Date Placeholder 3"/>
          <p:cNvSpPr>
            <a:spLocks noGrp="1"/>
          </p:cNvSpPr>
          <p:nvPr>
            <p:ph type="dt" sz="half" idx="10"/>
          </p:nvPr>
        </p:nvSpPr>
        <p:spPr/>
        <p:txBody>
          <a:bodyPr/>
          <a:lstStyle/>
          <a:p>
            <a:r>
              <a:rPr lang="en-US" dirty="0"/>
              <a:t>14.03.2026</a:t>
            </a:r>
            <a:endParaRPr lang="en-IN" dirty="0"/>
          </a:p>
        </p:txBody>
      </p:sp>
      <p:sp>
        <p:nvSpPr>
          <p:cNvPr id="5" name="Footer Placeholder 4"/>
          <p:cNvSpPr>
            <a:spLocks noGrp="1"/>
          </p:cNvSpPr>
          <p:nvPr>
            <p:ph type="ftr" sz="quarter" idx="11"/>
          </p:nvPr>
        </p:nvSpPr>
        <p:spPr/>
        <p:txBody>
          <a:bodyPr/>
          <a:lstStyle/>
          <a:p>
            <a:r>
              <a:rPr lang="en-US" b="1" dirty="0"/>
              <a:t>SREC-CSE</a:t>
            </a:r>
            <a:endParaRPr lang="en-IN" b="1" dirty="0"/>
          </a:p>
        </p:txBody>
      </p:sp>
      <p:sp>
        <p:nvSpPr>
          <p:cNvPr id="6" name="Slide Number Placeholder 5"/>
          <p:cNvSpPr>
            <a:spLocks noGrp="1"/>
          </p:cNvSpPr>
          <p:nvPr>
            <p:ph type="sldNum" sz="quarter" idx="12"/>
          </p:nvPr>
        </p:nvSpPr>
        <p:spPr/>
        <p:txBody>
          <a:bodyPr/>
          <a:lstStyle/>
          <a:p>
            <a:r>
              <a:rPr lang="en-US" dirty="0"/>
              <a:t>3</a:t>
            </a:r>
            <a:endParaRPr lang="en-IN" dirty="0"/>
          </a:p>
        </p:txBody>
      </p:sp>
      <p:sp>
        <p:nvSpPr>
          <p:cNvPr id="7" name="Rectangle 6"/>
          <p:cNvSpPr/>
          <p:nvPr/>
        </p:nvSpPr>
        <p:spPr>
          <a:xfrm>
            <a:off x="1516487" y="292009"/>
            <a:ext cx="6111025" cy="400110"/>
          </a:xfrm>
          <a:prstGeom prst="rect">
            <a:avLst/>
          </a:prstGeom>
        </p:spPr>
        <p:txBody>
          <a:bodyPr wrap="square">
            <a:spAutoFit/>
          </a:bodyPr>
          <a:lstStyle/>
          <a:p>
            <a:pPr algn="ctr"/>
            <a:r>
              <a:rPr lang="en-US" sz="2000" b="1" dirty="0">
                <a:solidFill>
                  <a:schemeClr val="accent6">
                    <a:lumMod val="50000"/>
                  </a:schemeClr>
                </a:solidFill>
                <a:latin typeface="Arial" panose="020B0604020202020204" pitchFamily="34" charset="0"/>
                <a:cs typeface="Arial" panose="020B0604020202020204" pitchFamily="34" charset="0"/>
              </a:rPr>
              <a:t>Problem identification, scope and objectives</a:t>
            </a:r>
            <a:endParaRPr lang="en-IN" sz="2000" dirty="0">
              <a:solidFill>
                <a:schemeClr val="accent6">
                  <a:lumMod val="50000"/>
                </a:schemeClr>
              </a:solidFill>
              <a:latin typeface="Arial" panose="020B0604020202020204" pitchFamily="34" charset="0"/>
              <a:cs typeface="Arial" panose="020B0604020202020204" pitchFamily="34" charset="0"/>
            </a:endParaRPr>
          </a:p>
        </p:txBody>
      </p:sp>
      <p:sp>
        <p:nvSpPr>
          <p:cNvPr id="10" name="Rectangle 9"/>
          <p:cNvSpPr/>
          <p:nvPr/>
        </p:nvSpPr>
        <p:spPr>
          <a:xfrm>
            <a:off x="364456" y="1500188"/>
            <a:ext cx="2789546" cy="477054"/>
          </a:xfrm>
          <a:prstGeom prst="rect">
            <a:avLst/>
          </a:prstGeom>
        </p:spPr>
        <p:txBody>
          <a:bodyPr wrap="none">
            <a:spAutoFit/>
          </a:bodyPr>
          <a:lstStyle/>
          <a:p>
            <a:pPr algn="just">
              <a:defRPr/>
            </a:pPr>
            <a:r>
              <a:rPr lang="en-US" sz="2500" b="1" dirty="0">
                <a:solidFill>
                  <a:srgbClr val="FF0000"/>
                </a:solidFill>
                <a:latin typeface="Times New Roman" panose="02020603050405020304" pitchFamily="18" charset="0"/>
                <a:cs typeface="Times New Roman" panose="02020603050405020304" pitchFamily="18" charset="0"/>
              </a:rPr>
              <a:t>Objectives (Max 3)</a:t>
            </a:r>
            <a:endParaRPr lang="en-IN" sz="2500" b="1" dirty="0">
              <a:solidFill>
                <a:srgbClr val="FF0000"/>
              </a:solidFill>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39ADF75A-DDE6-2AB6-1DA1-FE494B42C1EC}"/>
              </a:ext>
            </a:extLst>
          </p:cNvPr>
          <p:cNvSpPr txBox="1"/>
          <p:nvPr/>
        </p:nvSpPr>
        <p:spPr>
          <a:xfrm>
            <a:off x="628649" y="1931529"/>
            <a:ext cx="8034087" cy="3416320"/>
          </a:xfrm>
          <a:prstGeom prst="rect">
            <a:avLst/>
          </a:prstGeom>
          <a:noFill/>
        </p:spPr>
        <p:txBody>
          <a:bodyPr wrap="square">
            <a:spAutoFit/>
          </a:bodyPr>
          <a:lstStyle/>
          <a:p>
            <a:pPr marL="285750" indent="-285750" algn="just">
              <a:buFont typeface="Arial" panose="020B0604020202020204" pitchFamily="34" charset="0"/>
              <a:buChar char="•"/>
              <a:defRPr/>
            </a:pPr>
            <a:endParaRPr lang="en-US" sz="2400" dirty="0"/>
          </a:p>
          <a:p>
            <a:pPr marL="285750" indent="-285750" algn="just">
              <a:buFont typeface="Arial" panose="020B0604020202020204" pitchFamily="34" charset="0"/>
              <a:buChar char="•"/>
              <a:defRPr/>
            </a:pPr>
            <a:r>
              <a:rPr lang="en-US" sz="2400" dirty="0"/>
              <a:t>Enable students to post content, view club events, and connect socially, with a sentiment analyzer to understand post tone.</a:t>
            </a:r>
          </a:p>
          <a:p>
            <a:pPr marL="285750" indent="-285750" algn="just">
              <a:buFont typeface="Arial" panose="020B0604020202020204" pitchFamily="34" charset="0"/>
              <a:buChar char="•"/>
              <a:defRPr/>
            </a:pPr>
            <a:r>
              <a:rPr lang="en-US" sz="2400" dirty="0"/>
              <a:t>Build a secure, centralized platform for all SREC students — especially newcomers — to access academic and campus information easily.</a:t>
            </a:r>
          </a:p>
          <a:p>
            <a:pPr marL="285750" indent="-285750" algn="just">
              <a:buFont typeface="Arial" panose="020B0604020202020204" pitchFamily="34" charset="0"/>
              <a:buChar char="•"/>
              <a:defRPr/>
            </a:pPr>
            <a:r>
              <a:rPr lang="en-US" sz="2400" dirty="0"/>
              <a:t>Provide quick access to past year question papers and real-time help through an AI-powered FAQ chatbot.</a:t>
            </a:r>
          </a:p>
        </p:txBody>
      </p:sp>
    </p:spTree>
    <p:extLst>
      <p:ext uri="{BB962C8B-B14F-4D97-AF65-F5344CB8AC3E}">
        <p14:creationId xmlns:p14="http://schemas.microsoft.com/office/powerpoint/2010/main" val="36223285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04552" y="217025"/>
            <a:ext cx="6777508" cy="639202"/>
          </a:xfrm>
        </p:spPr>
        <p:txBody>
          <a:bodyPr/>
          <a:lstStyle/>
          <a:p>
            <a:br>
              <a:rPr lang="en-IN" sz="2800" b="0" dirty="0">
                <a:solidFill>
                  <a:srgbClr val="660066"/>
                </a:solidFill>
                <a:latin typeface="Arial" panose="020B0604020202020204" pitchFamily="34" charset="0"/>
                <a:cs typeface="Arial" panose="020B0604020202020204" pitchFamily="34" charset="0"/>
              </a:rPr>
            </a:br>
            <a:r>
              <a:rPr lang="en-IN" sz="2800" b="0" dirty="0">
                <a:solidFill>
                  <a:srgbClr val="660066"/>
                </a:solidFill>
                <a:latin typeface="Arial" panose="020B0604020202020204" pitchFamily="34" charset="0"/>
                <a:cs typeface="Arial" panose="020B0604020202020204" pitchFamily="34" charset="0"/>
              </a:rPr>
              <a:t> </a:t>
            </a:r>
            <a:endParaRPr lang="en-IN" sz="2800" dirty="0">
              <a:solidFill>
                <a:srgbClr val="660066"/>
              </a:solidFill>
              <a:latin typeface="Arial" panose="020B0604020202020204" pitchFamily="34" charset="0"/>
              <a:cs typeface="Arial" panose="020B0604020202020204" pitchFamily="34" charset="0"/>
            </a:endParaRPr>
          </a:p>
        </p:txBody>
      </p:sp>
      <p:sp>
        <p:nvSpPr>
          <p:cNvPr id="3" name="Subtitle 2"/>
          <p:cNvSpPr>
            <a:spLocks noGrp="1"/>
          </p:cNvSpPr>
          <p:nvPr>
            <p:ph type="subTitle" idx="1"/>
          </p:nvPr>
        </p:nvSpPr>
        <p:spPr>
          <a:xfrm>
            <a:off x="362857" y="1318327"/>
            <a:ext cx="8418286" cy="5307760"/>
          </a:xfrm>
        </p:spPr>
        <p:txBody>
          <a:bodyPr>
            <a:noAutofit/>
          </a:bodyPr>
          <a:lstStyle/>
          <a:p>
            <a:pPr>
              <a:defRPr/>
            </a:pPr>
            <a:endParaRPr lang="en-US" sz="2000" dirty="0">
              <a:solidFill>
                <a:srgbClr val="002060"/>
              </a:solidFill>
            </a:endParaRPr>
          </a:p>
          <a:p>
            <a:pPr>
              <a:defRPr/>
            </a:pPr>
            <a:endParaRPr lang="en-US" sz="2000" dirty="0">
              <a:solidFill>
                <a:srgbClr val="002060"/>
              </a:solidFill>
            </a:endParaRPr>
          </a:p>
          <a:p>
            <a:pPr>
              <a:defRPr/>
            </a:pPr>
            <a:endParaRPr lang="en-US" sz="2000" dirty="0">
              <a:solidFill>
                <a:srgbClr val="002060"/>
              </a:solidFill>
            </a:endParaRPr>
          </a:p>
          <a:p>
            <a:pPr>
              <a:defRPr/>
            </a:pPr>
            <a:endParaRPr lang="en-US" sz="2000" dirty="0"/>
          </a:p>
          <a:p>
            <a:pPr>
              <a:defRPr/>
            </a:pPr>
            <a:endParaRPr lang="en-US" sz="2000" dirty="0"/>
          </a:p>
          <a:p>
            <a:pPr>
              <a:defRPr/>
            </a:pPr>
            <a:endParaRPr lang="en-US" sz="2000" dirty="0"/>
          </a:p>
          <a:p>
            <a:pPr>
              <a:defRPr/>
            </a:pPr>
            <a:endParaRPr lang="en-US" sz="2000" dirty="0"/>
          </a:p>
          <a:p>
            <a:pPr>
              <a:defRPr/>
            </a:pPr>
            <a:endParaRPr lang="en-US" sz="2000" dirty="0"/>
          </a:p>
          <a:p>
            <a:pPr>
              <a:defRPr/>
            </a:pPr>
            <a:endParaRPr lang="en-US" sz="2000" dirty="0"/>
          </a:p>
          <a:p>
            <a:pPr>
              <a:defRPr/>
            </a:pPr>
            <a:endParaRPr lang="en-US" sz="2000" b="1" dirty="0">
              <a:solidFill>
                <a:srgbClr val="002060"/>
              </a:solidFill>
            </a:endParaRPr>
          </a:p>
          <a:p>
            <a:pPr algn="just">
              <a:defRPr/>
            </a:pPr>
            <a:r>
              <a:rPr lang="en-US" sz="2000" b="1" dirty="0">
                <a:solidFill>
                  <a:srgbClr val="002060"/>
                </a:solidFill>
              </a:rPr>
              <a:t>Source: </a:t>
            </a:r>
            <a:r>
              <a:rPr lang="en-US" sz="2000" dirty="0">
                <a:latin typeface="Calibri" panose="020F0502020204030204" pitchFamily="34" charset="0"/>
                <a:ea typeface="Calibri" panose="020F0502020204030204" pitchFamily="34" charset="0"/>
                <a:cs typeface="Calibri" panose="020F0502020204030204" pitchFamily="34" charset="0"/>
              </a:rPr>
              <a:t>Ahmed </a:t>
            </a:r>
            <a:r>
              <a:rPr lang="en-US" sz="2000" dirty="0" err="1">
                <a:latin typeface="Calibri" panose="020F0502020204030204" pitchFamily="34" charset="0"/>
                <a:ea typeface="Calibri" panose="020F0502020204030204" pitchFamily="34" charset="0"/>
                <a:cs typeface="Calibri" panose="020F0502020204030204" pitchFamily="34" charset="0"/>
              </a:rPr>
              <a:t>Elragal</a:t>
            </a:r>
            <a:r>
              <a:rPr lang="en-US" sz="2000" dirty="0">
                <a:latin typeface="Calibri" panose="020F0502020204030204" pitchFamily="34" charset="0"/>
                <a:ea typeface="Calibri" panose="020F0502020204030204" pitchFamily="34" charset="0"/>
                <a:cs typeface="Calibri" panose="020F0502020204030204" pitchFamily="34" charset="0"/>
              </a:rPr>
              <a:t>, Ali Ismail Awad, Ingemar Andersson, and Jörgen Nilsson, “A Conversational AI Bot for Efficient Learning: A Prototypical Design”, IEEE Access, vol. 12, 2024, DOI: 10.1109/ACCESS.2024.3476953.</a:t>
            </a:r>
            <a:endParaRPr lang="en-US" sz="2000" dirty="0">
              <a:solidFill>
                <a:srgbClr val="00B050"/>
              </a:solidFill>
              <a:latin typeface="Times New Roman" panose="02020603050405020304" pitchFamily="18" charset="0"/>
              <a:cs typeface="Times New Roman" panose="02020603050405020304" pitchFamily="18" charset="0"/>
            </a:endParaRPr>
          </a:p>
        </p:txBody>
      </p:sp>
      <p:sp>
        <p:nvSpPr>
          <p:cNvPr id="4" name="Date Placeholder 3"/>
          <p:cNvSpPr>
            <a:spLocks noGrp="1"/>
          </p:cNvSpPr>
          <p:nvPr>
            <p:ph type="dt" sz="half" idx="10"/>
          </p:nvPr>
        </p:nvSpPr>
        <p:spPr/>
        <p:txBody>
          <a:bodyPr/>
          <a:lstStyle/>
          <a:p>
            <a:r>
              <a:rPr lang="en-US" dirty="0"/>
              <a:t>14.03.2026</a:t>
            </a:r>
            <a:endParaRPr lang="en-IN" dirty="0"/>
          </a:p>
        </p:txBody>
      </p:sp>
      <p:sp>
        <p:nvSpPr>
          <p:cNvPr id="5" name="Footer Placeholder 4"/>
          <p:cNvSpPr>
            <a:spLocks noGrp="1"/>
          </p:cNvSpPr>
          <p:nvPr>
            <p:ph type="ftr" sz="quarter" idx="11"/>
          </p:nvPr>
        </p:nvSpPr>
        <p:spPr/>
        <p:txBody>
          <a:bodyPr/>
          <a:lstStyle/>
          <a:p>
            <a:r>
              <a:rPr lang="en-US" b="1" dirty="0"/>
              <a:t>SREC-CSE</a:t>
            </a:r>
            <a:endParaRPr lang="en-IN" b="1" dirty="0"/>
          </a:p>
        </p:txBody>
      </p:sp>
      <p:sp>
        <p:nvSpPr>
          <p:cNvPr id="6" name="Slide Number Placeholder 5"/>
          <p:cNvSpPr>
            <a:spLocks noGrp="1"/>
          </p:cNvSpPr>
          <p:nvPr>
            <p:ph type="sldNum" sz="quarter" idx="12"/>
          </p:nvPr>
        </p:nvSpPr>
        <p:spPr/>
        <p:txBody>
          <a:bodyPr/>
          <a:lstStyle/>
          <a:p>
            <a:r>
              <a:rPr lang="en-US" dirty="0"/>
              <a:t>3</a:t>
            </a:r>
            <a:endParaRPr lang="en-IN" dirty="0"/>
          </a:p>
        </p:txBody>
      </p:sp>
      <p:sp>
        <p:nvSpPr>
          <p:cNvPr id="7" name="Rectangle 6"/>
          <p:cNvSpPr/>
          <p:nvPr/>
        </p:nvSpPr>
        <p:spPr>
          <a:xfrm>
            <a:off x="1516487" y="292009"/>
            <a:ext cx="6111025" cy="523220"/>
          </a:xfrm>
          <a:prstGeom prst="rect">
            <a:avLst/>
          </a:prstGeom>
        </p:spPr>
        <p:txBody>
          <a:bodyPr wrap="square">
            <a:spAutoFit/>
          </a:bodyPr>
          <a:lstStyle/>
          <a:p>
            <a:pPr algn="ctr"/>
            <a:r>
              <a:rPr lang="en-US" altLang="en-US" sz="2800" b="1" dirty="0">
                <a:solidFill>
                  <a:schemeClr val="accent6">
                    <a:lumMod val="50000"/>
                  </a:schemeClr>
                </a:solidFill>
                <a:latin typeface="Arial" panose="020B0604020202020204" pitchFamily="34" charset="0"/>
                <a:cs typeface="Arial" panose="020B0604020202020204" pitchFamily="34" charset="0"/>
              </a:rPr>
              <a:t>Literature Survey – 01</a:t>
            </a:r>
            <a:endParaRPr lang="en-IN" sz="2800" dirty="0">
              <a:solidFill>
                <a:schemeClr val="accent6">
                  <a:lumMod val="50000"/>
                </a:schemeClr>
              </a:solidFill>
              <a:latin typeface="Arial" panose="020B0604020202020204" pitchFamily="34" charset="0"/>
              <a:cs typeface="Arial" panose="020B0604020202020204" pitchFamily="34" charset="0"/>
            </a:endParaRPr>
          </a:p>
        </p:txBody>
      </p:sp>
      <p:pic>
        <p:nvPicPr>
          <p:cNvPr id="20" name="Picture 19">
            <a:extLst>
              <a:ext uri="{FF2B5EF4-FFF2-40B4-BE49-F238E27FC236}">
                <a16:creationId xmlns:a16="http://schemas.microsoft.com/office/drawing/2014/main" id="{950E2C4E-5AD6-E5C3-E729-C1DC292AD55B}"/>
              </a:ext>
            </a:extLst>
          </p:cNvPr>
          <p:cNvPicPr>
            <a:picLocks noChangeAspect="1"/>
          </p:cNvPicPr>
          <p:nvPr/>
        </p:nvPicPr>
        <p:blipFill>
          <a:blip r:embed="rId2"/>
          <a:stretch>
            <a:fillRect/>
          </a:stretch>
        </p:blipFill>
        <p:spPr>
          <a:xfrm>
            <a:off x="938397" y="1836963"/>
            <a:ext cx="7267203" cy="2743201"/>
          </a:xfrm>
          <a:prstGeom prst="rect">
            <a:avLst/>
          </a:prstGeom>
        </p:spPr>
      </p:pic>
    </p:spTree>
    <p:extLst>
      <p:ext uri="{BB962C8B-B14F-4D97-AF65-F5344CB8AC3E}">
        <p14:creationId xmlns:p14="http://schemas.microsoft.com/office/powerpoint/2010/main" val="27064062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altLang="en-US" sz="2800" dirty="0">
                <a:latin typeface="Arial" panose="020B0604020202020204" pitchFamily="34" charset="0"/>
                <a:cs typeface="Arial" panose="020B0604020202020204" pitchFamily="34" charset="0"/>
              </a:rPr>
              <a:t>Literature Survey - 02</a:t>
            </a:r>
            <a:endParaRPr lang="en-US" altLang="en-US" sz="2800" b="1" dirty="0">
              <a:solidFill>
                <a:srgbClr val="7030A0"/>
              </a:solidFill>
              <a:latin typeface="Arial" panose="020B0604020202020204" pitchFamily="34" charset="0"/>
              <a:cs typeface="Arial" panose="020B0604020202020204" pitchFamily="34" charset="0"/>
            </a:endParaRPr>
          </a:p>
        </p:txBody>
      </p:sp>
      <p:sp>
        <p:nvSpPr>
          <p:cNvPr id="9219" name="Content Placeholder 2"/>
          <p:cNvSpPr>
            <a:spLocks noGrp="1"/>
          </p:cNvSpPr>
          <p:nvPr>
            <p:ph idx="1"/>
          </p:nvPr>
        </p:nvSpPr>
        <p:spPr>
          <a:xfrm>
            <a:off x="628650" y="1825624"/>
            <a:ext cx="7886700" cy="4530725"/>
          </a:xfrm>
        </p:spPr>
        <p:txBody>
          <a:bodyPr>
            <a:normAutofit fontScale="77500" lnSpcReduction="20000"/>
          </a:bodyPr>
          <a:lstStyle/>
          <a:p>
            <a:pPr marL="0" indent="0">
              <a:buFont typeface="Arial" panose="020B0604020202020204" pitchFamily="34" charset="0"/>
              <a:buNone/>
              <a:defRPr/>
            </a:pPr>
            <a:endParaRPr lang="en-US" sz="2400" dirty="0">
              <a:solidFill>
                <a:srgbClr val="002060"/>
              </a:solidFill>
            </a:endParaRPr>
          </a:p>
          <a:p>
            <a:pPr marL="0" indent="0">
              <a:buFont typeface="Arial" panose="020B0604020202020204" pitchFamily="34" charset="0"/>
              <a:buNone/>
              <a:defRPr/>
            </a:pPr>
            <a:endParaRPr lang="en-US" sz="2400" dirty="0">
              <a:solidFill>
                <a:srgbClr val="002060"/>
              </a:solidFill>
            </a:endParaRPr>
          </a:p>
          <a:p>
            <a:pPr marL="0" indent="0">
              <a:buFont typeface="Arial" panose="020B0604020202020204" pitchFamily="34" charset="0"/>
              <a:buNone/>
              <a:defRPr/>
            </a:pPr>
            <a:endParaRPr lang="en-US" sz="2400" dirty="0">
              <a:solidFill>
                <a:srgbClr val="002060"/>
              </a:solidFill>
            </a:endParaRPr>
          </a:p>
          <a:p>
            <a:pPr marL="0" indent="0">
              <a:buFont typeface="Arial" panose="020B0604020202020204" pitchFamily="34" charset="0"/>
              <a:buNone/>
              <a:defRPr/>
            </a:pPr>
            <a:endParaRPr lang="en-US" sz="2400" dirty="0"/>
          </a:p>
          <a:p>
            <a:pPr marL="0" indent="0">
              <a:buFont typeface="Arial" panose="020B0604020202020204" pitchFamily="34" charset="0"/>
              <a:buNone/>
              <a:defRPr/>
            </a:pPr>
            <a:endParaRPr lang="en-US" sz="2400" dirty="0"/>
          </a:p>
          <a:p>
            <a:pPr marL="0" indent="0">
              <a:buFont typeface="Arial" panose="020B0604020202020204" pitchFamily="34" charset="0"/>
              <a:buNone/>
              <a:defRPr/>
            </a:pPr>
            <a:endParaRPr lang="en-US" sz="2400" dirty="0"/>
          </a:p>
          <a:p>
            <a:pPr marL="0" indent="0">
              <a:buFont typeface="Arial" panose="020B0604020202020204" pitchFamily="34" charset="0"/>
              <a:buNone/>
              <a:defRPr/>
            </a:pPr>
            <a:endParaRPr lang="en-US" sz="2400" dirty="0"/>
          </a:p>
          <a:p>
            <a:pPr marL="0" indent="0">
              <a:buFont typeface="Arial" panose="020B0604020202020204" pitchFamily="34" charset="0"/>
              <a:buNone/>
              <a:defRPr/>
            </a:pPr>
            <a:endParaRPr lang="en-US" sz="2400" dirty="0"/>
          </a:p>
          <a:p>
            <a:pPr marL="0" indent="0">
              <a:buFont typeface="Arial" panose="020B0604020202020204" pitchFamily="34" charset="0"/>
              <a:buNone/>
              <a:defRPr/>
            </a:pPr>
            <a:endParaRPr lang="en-US" sz="2400" dirty="0"/>
          </a:p>
          <a:p>
            <a:pPr marL="0" indent="0">
              <a:buNone/>
              <a:defRPr/>
            </a:pPr>
            <a:endParaRPr lang="en-US" sz="2400" b="1" dirty="0">
              <a:solidFill>
                <a:srgbClr val="002060"/>
              </a:solidFill>
            </a:endParaRPr>
          </a:p>
          <a:p>
            <a:pPr marL="0" indent="0">
              <a:buNone/>
              <a:defRPr/>
            </a:pPr>
            <a:endParaRPr lang="en-US" sz="2400" b="1" dirty="0">
              <a:solidFill>
                <a:srgbClr val="002060"/>
              </a:solidFill>
            </a:endParaRPr>
          </a:p>
          <a:p>
            <a:pPr marL="0" indent="0" algn="just">
              <a:buNone/>
              <a:defRPr/>
            </a:pPr>
            <a:r>
              <a:rPr lang="en-US" sz="2400" b="1" dirty="0">
                <a:solidFill>
                  <a:srgbClr val="002060"/>
                </a:solidFill>
              </a:rPr>
              <a:t>Source: </a:t>
            </a:r>
            <a:r>
              <a:rPr lang="en-IN" sz="2400" dirty="0">
                <a:latin typeface="Calibri" panose="020F0502020204030204" pitchFamily="34" charset="0"/>
                <a:ea typeface="Calibri" panose="020F0502020204030204" pitchFamily="34" charset="0"/>
                <a:cs typeface="Calibri" panose="020F0502020204030204" pitchFamily="34" charset="0"/>
              </a:rPr>
              <a:t>Neumann, A. T., Yin, Y., Sowe, S., Decker, S., &amp; Jarke, M. (2025). An LLM-Driven Chatbot in Higher Education for Databases and Information Systems. </a:t>
            </a:r>
            <a:r>
              <a:rPr lang="en-IN" sz="2400" i="1" dirty="0">
                <a:latin typeface="Calibri" panose="020F0502020204030204" pitchFamily="34" charset="0"/>
                <a:ea typeface="Calibri" panose="020F0502020204030204" pitchFamily="34" charset="0"/>
                <a:cs typeface="Calibri" panose="020F0502020204030204" pitchFamily="34" charset="0"/>
              </a:rPr>
              <a:t>IEEE Trans. Educ.</a:t>
            </a:r>
            <a:r>
              <a:rPr lang="en-IN" sz="2400" dirty="0">
                <a:latin typeface="Calibri" panose="020F0502020204030204" pitchFamily="34" charset="0"/>
                <a:ea typeface="Calibri" panose="020F0502020204030204" pitchFamily="34" charset="0"/>
                <a:cs typeface="Calibri" panose="020F0502020204030204" pitchFamily="34" charset="0"/>
              </a:rPr>
              <a:t>, 68(1). https://doi.org/10.1109/TE.2024.3467912</a:t>
            </a:r>
            <a:endParaRPr lang="en-US" sz="2400" dirty="0">
              <a:solidFill>
                <a:srgbClr val="00B050"/>
              </a:solidFill>
              <a:latin typeface="Times New Roman" panose="02020603050405020304" pitchFamily="18" charset="0"/>
              <a:cs typeface="Times New Roman" panose="02020603050405020304" pitchFamily="18" charset="0"/>
            </a:endParaRPr>
          </a:p>
        </p:txBody>
      </p:sp>
      <p:sp>
        <p:nvSpPr>
          <p:cNvPr id="18436"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70FB9661-A7A0-47A7-9DEF-DB72C08D3539}" type="slidenum">
              <a:rPr lang="en-IN" altLang="en-US" sz="1200">
                <a:solidFill>
                  <a:srgbClr val="898989"/>
                </a:solidFill>
              </a:rPr>
              <a:pPr>
                <a:spcBef>
                  <a:spcPct val="0"/>
                </a:spcBef>
                <a:buFontTx/>
                <a:buNone/>
              </a:pPr>
              <a:t>7</a:t>
            </a:fld>
            <a:endParaRPr lang="en-IN" altLang="en-US" sz="1200">
              <a:solidFill>
                <a:srgbClr val="898989"/>
              </a:solidFill>
            </a:endParaRPr>
          </a:p>
        </p:txBody>
      </p:sp>
      <p:graphicFrame>
        <p:nvGraphicFramePr>
          <p:cNvPr id="2" name="Table 1"/>
          <p:cNvGraphicFramePr>
            <a:graphicFrameLocks noGrp="1"/>
          </p:cNvGraphicFramePr>
          <p:nvPr>
            <p:extLst>
              <p:ext uri="{D42A27DB-BD31-4B8C-83A1-F6EECF244321}">
                <p14:modId xmlns:p14="http://schemas.microsoft.com/office/powerpoint/2010/main" val="1154873553"/>
              </p:ext>
            </p:extLst>
          </p:nvPr>
        </p:nvGraphicFramePr>
        <p:xfrm>
          <a:off x="539750" y="1641475"/>
          <a:ext cx="7975598" cy="3474704"/>
        </p:xfrm>
        <a:graphic>
          <a:graphicData uri="http://schemas.openxmlformats.org/drawingml/2006/table">
            <a:tbl>
              <a:tblPr firstRow="1" bandRow="1">
                <a:tableStyleId>{5C22544A-7EE6-4342-B048-85BDC9FD1C3A}</a:tableStyleId>
              </a:tblPr>
              <a:tblGrid>
                <a:gridCol w="2807610">
                  <a:extLst>
                    <a:ext uri="{9D8B030D-6E8A-4147-A177-3AD203B41FA5}">
                      <a16:colId xmlns:a16="http://schemas.microsoft.com/office/drawing/2014/main" val="20000"/>
                    </a:ext>
                  </a:extLst>
                </a:gridCol>
                <a:gridCol w="2583994">
                  <a:extLst>
                    <a:ext uri="{9D8B030D-6E8A-4147-A177-3AD203B41FA5}">
                      <a16:colId xmlns:a16="http://schemas.microsoft.com/office/drawing/2014/main" val="20001"/>
                    </a:ext>
                  </a:extLst>
                </a:gridCol>
                <a:gridCol w="2583994">
                  <a:extLst>
                    <a:ext uri="{9D8B030D-6E8A-4147-A177-3AD203B41FA5}">
                      <a16:colId xmlns:a16="http://schemas.microsoft.com/office/drawing/2014/main" val="20002"/>
                    </a:ext>
                  </a:extLst>
                </a:gridCol>
              </a:tblGrid>
              <a:tr h="365462">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Experiment</a:t>
                      </a:r>
                    </a:p>
                  </a:txBody>
                  <a:tcPr marL="91436" marR="91436" marT="45716" marB="45716"/>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Inference</a:t>
                      </a:r>
                    </a:p>
                  </a:txBody>
                  <a:tcPr marL="91436" marR="91436" marT="45716" marB="45716"/>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Problem gap</a:t>
                      </a:r>
                    </a:p>
                  </a:txBody>
                  <a:tcPr marL="91436" marR="91436" marT="45716" marB="45716"/>
                </a:tc>
                <a:extLst>
                  <a:ext uri="{0D108BD9-81ED-4DB2-BD59-A6C34878D82A}">
                    <a16:rowId xmlns:a16="http://schemas.microsoft.com/office/drawing/2014/main" val="10000"/>
                  </a:ext>
                </a:extLst>
              </a:tr>
              <a:tr h="3106484">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dirty="0"/>
                        <a:t>Developed and deployed </a:t>
                      </a:r>
                      <a:r>
                        <a:rPr lang="en-US" sz="1800" dirty="0" err="1"/>
                        <a:t>MoodleBot</a:t>
                      </a:r>
                      <a:r>
                        <a:rPr lang="en-US" sz="1800" dirty="0"/>
                        <a:t>, an LLM-based chatbot using a Retrieval-Augmented Generation (RAG) architecture integrated into Moodle LMS, and evaluated it using the Technology Acceptance Model (TAM) and accuracy metrics.</a:t>
                      </a:r>
                    </a:p>
                    <a:p>
                      <a:pPr algn="just"/>
                      <a:endParaRPr lang="en-US" sz="1800" dirty="0"/>
                    </a:p>
                  </a:txBody>
                  <a:tcPr marL="91436" marR="91436" marT="45716" marB="45716"/>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Achieved high perceived usefulness and ease of use, with 88% accuracy in answering course-related queries, effectively supporting self-regulated learning.</a:t>
                      </a:r>
                    </a:p>
                    <a:p>
                      <a:endParaRPr lang="en-US" sz="1800" dirty="0"/>
                    </a:p>
                  </a:txBody>
                  <a:tcPr marL="91436" marR="91436" marT="45716" marB="45716"/>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t>The solution remains effective but faces issues like hallucinations, bias, scalability, and missing a social-style platform for student interaction, which </a:t>
                      </a:r>
                      <a:r>
                        <a:rPr lang="en-US" sz="1800" dirty="0" err="1"/>
                        <a:t>CampusConnect</a:t>
                      </a:r>
                      <a:r>
                        <a:rPr lang="en-US" sz="1800" dirty="0"/>
                        <a:t> addresses.</a:t>
                      </a:r>
                    </a:p>
                    <a:p>
                      <a:endParaRPr lang="en-US" sz="1800" dirty="0"/>
                    </a:p>
                  </a:txBody>
                  <a:tcPr marL="91436" marR="91436" marT="45716" marB="45716"/>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8373507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altLang="en-US" sz="2800" dirty="0">
                <a:latin typeface="Arial" panose="020B0604020202020204" pitchFamily="34" charset="0"/>
                <a:cs typeface="Arial" panose="020B0604020202020204" pitchFamily="34" charset="0"/>
              </a:rPr>
              <a:t>Literature Survey - 03</a:t>
            </a:r>
            <a:endParaRPr lang="en-US" altLang="en-US" sz="2800" b="1" dirty="0">
              <a:solidFill>
                <a:srgbClr val="7030A0"/>
              </a:solidFill>
              <a:latin typeface="Arial" panose="020B0604020202020204" pitchFamily="34" charset="0"/>
              <a:cs typeface="Arial" panose="020B0604020202020204" pitchFamily="34" charset="0"/>
            </a:endParaRPr>
          </a:p>
        </p:txBody>
      </p:sp>
      <p:sp>
        <p:nvSpPr>
          <p:cNvPr id="9219" name="Content Placeholder 2"/>
          <p:cNvSpPr>
            <a:spLocks noGrp="1"/>
          </p:cNvSpPr>
          <p:nvPr>
            <p:ph idx="1"/>
          </p:nvPr>
        </p:nvSpPr>
        <p:spPr>
          <a:xfrm>
            <a:off x="628650" y="1825625"/>
            <a:ext cx="7886700" cy="4671428"/>
          </a:xfrm>
        </p:spPr>
        <p:txBody>
          <a:bodyPr>
            <a:normAutofit fontScale="77500" lnSpcReduction="20000"/>
          </a:bodyPr>
          <a:lstStyle/>
          <a:p>
            <a:pPr marL="0" indent="0">
              <a:buFont typeface="Arial" panose="020B0604020202020204" pitchFamily="34" charset="0"/>
              <a:buNone/>
              <a:defRPr/>
            </a:pPr>
            <a:endParaRPr lang="en-US" sz="2400" dirty="0">
              <a:solidFill>
                <a:srgbClr val="002060"/>
              </a:solidFill>
            </a:endParaRPr>
          </a:p>
          <a:p>
            <a:pPr marL="0" indent="0">
              <a:buFont typeface="Arial" panose="020B0604020202020204" pitchFamily="34" charset="0"/>
              <a:buNone/>
              <a:defRPr/>
            </a:pPr>
            <a:endParaRPr lang="en-US" sz="2400" dirty="0">
              <a:solidFill>
                <a:srgbClr val="002060"/>
              </a:solidFill>
            </a:endParaRPr>
          </a:p>
          <a:p>
            <a:pPr marL="0" indent="0">
              <a:buFont typeface="Arial" panose="020B0604020202020204" pitchFamily="34" charset="0"/>
              <a:buNone/>
              <a:defRPr/>
            </a:pPr>
            <a:endParaRPr lang="en-US" sz="2400" dirty="0">
              <a:solidFill>
                <a:srgbClr val="002060"/>
              </a:solidFill>
            </a:endParaRPr>
          </a:p>
          <a:p>
            <a:pPr marL="0" indent="0">
              <a:buFont typeface="Arial" panose="020B0604020202020204" pitchFamily="34" charset="0"/>
              <a:buNone/>
              <a:defRPr/>
            </a:pPr>
            <a:endParaRPr lang="en-US" sz="2400" dirty="0"/>
          </a:p>
          <a:p>
            <a:pPr marL="0" indent="0">
              <a:buFont typeface="Arial" panose="020B0604020202020204" pitchFamily="34" charset="0"/>
              <a:buNone/>
              <a:defRPr/>
            </a:pPr>
            <a:endParaRPr lang="en-US" sz="2400" dirty="0"/>
          </a:p>
          <a:p>
            <a:pPr marL="0" indent="0">
              <a:buFont typeface="Arial" panose="020B0604020202020204" pitchFamily="34" charset="0"/>
              <a:buNone/>
              <a:defRPr/>
            </a:pPr>
            <a:endParaRPr lang="en-US" sz="2400" dirty="0"/>
          </a:p>
          <a:p>
            <a:pPr marL="0" indent="0">
              <a:buFont typeface="Arial" panose="020B0604020202020204" pitchFamily="34" charset="0"/>
              <a:buNone/>
              <a:defRPr/>
            </a:pPr>
            <a:endParaRPr lang="en-US" sz="2400" dirty="0"/>
          </a:p>
          <a:p>
            <a:pPr marL="0" indent="0">
              <a:buFont typeface="Arial" panose="020B0604020202020204" pitchFamily="34" charset="0"/>
              <a:buNone/>
              <a:defRPr/>
            </a:pPr>
            <a:endParaRPr lang="en-US" sz="2400" dirty="0"/>
          </a:p>
          <a:p>
            <a:pPr marL="0" indent="0">
              <a:buFont typeface="Arial" panose="020B0604020202020204" pitchFamily="34" charset="0"/>
              <a:buNone/>
              <a:defRPr/>
            </a:pPr>
            <a:endParaRPr lang="en-US" sz="2400" dirty="0"/>
          </a:p>
          <a:p>
            <a:pPr marL="0" indent="0">
              <a:buNone/>
              <a:defRPr/>
            </a:pPr>
            <a:endParaRPr lang="en-US" sz="2400" b="1" dirty="0">
              <a:solidFill>
                <a:srgbClr val="002060"/>
              </a:solidFill>
            </a:endParaRPr>
          </a:p>
          <a:p>
            <a:pPr marL="0" indent="0">
              <a:buNone/>
              <a:defRPr/>
            </a:pPr>
            <a:endParaRPr lang="en-US" sz="2400" b="1" dirty="0">
              <a:solidFill>
                <a:srgbClr val="002060"/>
              </a:solidFill>
            </a:endParaRPr>
          </a:p>
          <a:p>
            <a:pPr marL="0" indent="0" algn="just">
              <a:buNone/>
              <a:defRPr/>
            </a:pPr>
            <a:r>
              <a:rPr lang="en-US" sz="2400" b="1" dirty="0">
                <a:solidFill>
                  <a:srgbClr val="002060"/>
                </a:solidFill>
              </a:rPr>
              <a:t>Source: </a:t>
            </a:r>
            <a:r>
              <a:rPr lang="en-US" sz="2400" dirty="0">
                <a:latin typeface="Calibri" panose="020F0502020204030204" pitchFamily="34" charset="0"/>
                <a:ea typeface="Calibri" panose="020F0502020204030204" pitchFamily="34" charset="0"/>
                <a:cs typeface="Calibri" panose="020F0502020204030204" pitchFamily="34" charset="0"/>
              </a:rPr>
              <a:t>William Villegas-Ch, Joselin García-Ortiz, and Santiago Sánchez-Viteri, “Application of Artificial Intelligence in Online Education: Influence of Student Participation on Academic Retention in Virtual Courses”, IEEE Access, May 2024, DOI: 10.1109/ACCESS.2024.3403758</a:t>
            </a:r>
            <a:r>
              <a:rPr lang="en-US" sz="2400" b="1" dirty="0">
                <a:solidFill>
                  <a:srgbClr val="002060"/>
                </a:solidFill>
              </a:rPr>
              <a:t>.</a:t>
            </a:r>
            <a:endParaRPr lang="en-US" sz="2400" dirty="0">
              <a:solidFill>
                <a:srgbClr val="00B050"/>
              </a:solidFill>
              <a:latin typeface="Times New Roman" panose="02020603050405020304" pitchFamily="18" charset="0"/>
              <a:cs typeface="Times New Roman" panose="02020603050405020304" pitchFamily="18" charset="0"/>
            </a:endParaRPr>
          </a:p>
        </p:txBody>
      </p:sp>
      <p:sp>
        <p:nvSpPr>
          <p:cNvPr id="18436"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70FB9661-A7A0-47A7-9DEF-DB72C08D3539}" type="slidenum">
              <a:rPr lang="en-IN" altLang="en-US" sz="1200">
                <a:solidFill>
                  <a:srgbClr val="898989"/>
                </a:solidFill>
              </a:rPr>
              <a:pPr>
                <a:spcBef>
                  <a:spcPct val="0"/>
                </a:spcBef>
                <a:buFontTx/>
                <a:buNone/>
              </a:pPr>
              <a:t>8</a:t>
            </a:fld>
            <a:endParaRPr lang="en-IN" altLang="en-US" sz="1200">
              <a:solidFill>
                <a:srgbClr val="898989"/>
              </a:solidFill>
            </a:endParaRPr>
          </a:p>
        </p:txBody>
      </p:sp>
      <p:graphicFrame>
        <p:nvGraphicFramePr>
          <p:cNvPr id="2" name="Table 1"/>
          <p:cNvGraphicFramePr>
            <a:graphicFrameLocks noGrp="1"/>
          </p:cNvGraphicFramePr>
          <p:nvPr>
            <p:extLst>
              <p:ext uri="{D42A27DB-BD31-4B8C-83A1-F6EECF244321}">
                <p14:modId xmlns:p14="http://schemas.microsoft.com/office/powerpoint/2010/main" val="3333423096"/>
              </p:ext>
            </p:extLst>
          </p:nvPr>
        </p:nvGraphicFramePr>
        <p:xfrm>
          <a:off x="457201" y="1323475"/>
          <a:ext cx="8229598" cy="3850104"/>
        </p:xfrm>
        <a:graphic>
          <a:graphicData uri="http://schemas.openxmlformats.org/drawingml/2006/table">
            <a:tbl>
              <a:tblPr firstRow="1" bandRow="1">
                <a:tableStyleId>{5C22544A-7EE6-4342-B048-85BDC9FD1C3A}</a:tableStyleId>
              </a:tblPr>
              <a:tblGrid>
                <a:gridCol w="2897024">
                  <a:extLst>
                    <a:ext uri="{9D8B030D-6E8A-4147-A177-3AD203B41FA5}">
                      <a16:colId xmlns:a16="http://schemas.microsoft.com/office/drawing/2014/main" val="20000"/>
                    </a:ext>
                  </a:extLst>
                </a:gridCol>
                <a:gridCol w="2666287">
                  <a:extLst>
                    <a:ext uri="{9D8B030D-6E8A-4147-A177-3AD203B41FA5}">
                      <a16:colId xmlns:a16="http://schemas.microsoft.com/office/drawing/2014/main" val="20001"/>
                    </a:ext>
                  </a:extLst>
                </a:gridCol>
                <a:gridCol w="2666287">
                  <a:extLst>
                    <a:ext uri="{9D8B030D-6E8A-4147-A177-3AD203B41FA5}">
                      <a16:colId xmlns:a16="http://schemas.microsoft.com/office/drawing/2014/main" val="20002"/>
                    </a:ext>
                  </a:extLst>
                </a:gridCol>
              </a:tblGrid>
              <a:tr h="375613">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Experiment</a:t>
                      </a:r>
                    </a:p>
                  </a:txBody>
                  <a:tcPr marL="91436" marR="91436" marT="45716" marB="45716"/>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Inference</a:t>
                      </a:r>
                    </a:p>
                  </a:txBody>
                  <a:tcPr marL="91436" marR="91436" marT="45716" marB="45716"/>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Problem gap</a:t>
                      </a:r>
                    </a:p>
                  </a:txBody>
                  <a:tcPr marL="91436" marR="91436" marT="45716" marB="45716"/>
                </a:tc>
                <a:extLst>
                  <a:ext uri="{0D108BD9-81ED-4DB2-BD59-A6C34878D82A}">
                    <a16:rowId xmlns:a16="http://schemas.microsoft.com/office/drawing/2014/main" val="10000"/>
                  </a:ext>
                </a:extLst>
              </a:tr>
              <a:tr h="3474491">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dirty="0"/>
                        <a:t>Analyzed student participation in online courses using engagement data collected across multiple semesters. Applied time-series forecasting models (ARIMA and Prophet) to identify temporal patterns and critical factors influencing academic retention.</a:t>
                      </a:r>
                    </a:p>
                  </a:txBody>
                  <a:tcPr marL="91436" marR="91436" marT="45716" marB="45716"/>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dirty="0"/>
                        <a:t>Found that participation is highest at the beginning of courses but declines over time. Peer interaction, course length, and engagement strategies were key factors affecting student retention and performance in online education</a:t>
                      </a:r>
                      <a:endParaRPr lang="en-US" sz="1800" dirty="0">
                        <a:latin typeface="Times New Roman"/>
                        <a:cs typeface="Times New Roman"/>
                      </a:endParaRPr>
                    </a:p>
                    <a:p>
                      <a:endParaRPr lang="en-US" sz="1800" dirty="0"/>
                    </a:p>
                  </a:txBody>
                  <a:tcPr marL="91436" marR="91436" marT="45716" marB="45716"/>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dirty="0"/>
                        <a:t>AI models found participation patterns, but lacked an interactive system for engagement, real-time support, and peer interaction—gaps filled by CampusConnect’s AI chatbot and community features.</a:t>
                      </a:r>
                    </a:p>
                    <a:p>
                      <a:endParaRPr lang="en-US" sz="1800" dirty="0"/>
                    </a:p>
                  </a:txBody>
                  <a:tcPr marL="91436" marR="91436" marT="45716" marB="45716"/>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6340774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altLang="en-US" sz="2800" dirty="0">
                <a:latin typeface="Arial" panose="020B0604020202020204" pitchFamily="34" charset="0"/>
                <a:cs typeface="Arial" panose="020B0604020202020204" pitchFamily="34" charset="0"/>
              </a:rPr>
              <a:t>Literature Survey - 04</a:t>
            </a:r>
            <a:endParaRPr lang="en-US" altLang="en-US" sz="2800" b="1" dirty="0">
              <a:solidFill>
                <a:srgbClr val="7030A0"/>
              </a:solidFill>
              <a:latin typeface="Arial" panose="020B0604020202020204" pitchFamily="34" charset="0"/>
              <a:cs typeface="Arial" panose="020B0604020202020204" pitchFamily="34" charset="0"/>
            </a:endParaRPr>
          </a:p>
        </p:txBody>
      </p:sp>
      <p:sp>
        <p:nvSpPr>
          <p:cNvPr id="9219" name="Content Placeholder 2"/>
          <p:cNvSpPr>
            <a:spLocks noGrp="1"/>
          </p:cNvSpPr>
          <p:nvPr>
            <p:ph idx="1"/>
          </p:nvPr>
        </p:nvSpPr>
        <p:spPr/>
        <p:txBody>
          <a:bodyPr>
            <a:normAutofit fontScale="40000" lnSpcReduction="20000"/>
          </a:bodyPr>
          <a:lstStyle/>
          <a:p>
            <a:pPr marL="0" indent="0">
              <a:buFont typeface="Arial" panose="020B0604020202020204" pitchFamily="34" charset="0"/>
              <a:buNone/>
              <a:defRPr/>
            </a:pPr>
            <a:endParaRPr lang="en-US" sz="2400" dirty="0">
              <a:solidFill>
                <a:srgbClr val="002060"/>
              </a:solidFill>
            </a:endParaRPr>
          </a:p>
          <a:p>
            <a:pPr marL="0" indent="0">
              <a:buFont typeface="Arial" panose="020B0604020202020204" pitchFamily="34" charset="0"/>
              <a:buNone/>
              <a:defRPr/>
            </a:pPr>
            <a:endParaRPr lang="en-US" sz="2400" dirty="0">
              <a:solidFill>
                <a:srgbClr val="002060"/>
              </a:solidFill>
            </a:endParaRPr>
          </a:p>
          <a:p>
            <a:pPr marL="0" indent="0">
              <a:buFont typeface="Arial" panose="020B0604020202020204" pitchFamily="34" charset="0"/>
              <a:buNone/>
              <a:defRPr/>
            </a:pPr>
            <a:endParaRPr lang="en-US" sz="2400" dirty="0">
              <a:solidFill>
                <a:srgbClr val="002060"/>
              </a:solidFill>
            </a:endParaRPr>
          </a:p>
          <a:p>
            <a:pPr marL="0" indent="0">
              <a:buFont typeface="Arial" panose="020B0604020202020204" pitchFamily="34" charset="0"/>
              <a:buNone/>
              <a:defRPr/>
            </a:pPr>
            <a:endParaRPr lang="en-US" sz="2400" dirty="0"/>
          </a:p>
          <a:p>
            <a:pPr marL="0" indent="0">
              <a:buFont typeface="Arial" panose="020B0604020202020204" pitchFamily="34" charset="0"/>
              <a:buNone/>
              <a:defRPr/>
            </a:pPr>
            <a:endParaRPr lang="en-US" sz="2400" dirty="0"/>
          </a:p>
          <a:p>
            <a:pPr marL="0" indent="0">
              <a:buFont typeface="Arial" panose="020B0604020202020204" pitchFamily="34" charset="0"/>
              <a:buNone/>
              <a:defRPr/>
            </a:pPr>
            <a:endParaRPr lang="en-US" sz="2400" dirty="0"/>
          </a:p>
          <a:p>
            <a:pPr marL="0" indent="0">
              <a:buFont typeface="Arial" panose="020B0604020202020204" pitchFamily="34" charset="0"/>
              <a:buNone/>
              <a:defRPr/>
            </a:pPr>
            <a:endParaRPr lang="en-US" sz="2400" dirty="0"/>
          </a:p>
          <a:p>
            <a:pPr marL="0" indent="0">
              <a:buFont typeface="Arial" panose="020B0604020202020204" pitchFamily="34" charset="0"/>
              <a:buNone/>
              <a:defRPr/>
            </a:pPr>
            <a:endParaRPr lang="en-US" sz="2400" dirty="0"/>
          </a:p>
          <a:p>
            <a:pPr marL="344170" indent="-331470">
              <a:lnSpc>
                <a:spcPts val="2555"/>
              </a:lnSpc>
              <a:spcBef>
                <a:spcPts val="120"/>
              </a:spcBef>
              <a:buFont typeface="Arial"/>
              <a:buChar char="•"/>
              <a:tabLst>
                <a:tab pos="344170" algn="l"/>
              </a:tabLst>
            </a:pPr>
            <a:endParaRPr lang="en-US" sz="2400" b="1" dirty="0">
              <a:solidFill>
                <a:srgbClr val="002060"/>
              </a:solidFill>
            </a:endParaRPr>
          </a:p>
          <a:p>
            <a:pPr marL="344170" indent="-331470">
              <a:lnSpc>
                <a:spcPts val="2555"/>
              </a:lnSpc>
              <a:spcBef>
                <a:spcPts val="120"/>
              </a:spcBef>
              <a:buFont typeface="Arial"/>
              <a:buChar char="•"/>
              <a:tabLst>
                <a:tab pos="344170" algn="l"/>
              </a:tabLst>
            </a:pPr>
            <a:endParaRPr lang="en-US" sz="2400" b="1" dirty="0">
              <a:solidFill>
                <a:srgbClr val="002060"/>
              </a:solidFill>
            </a:endParaRPr>
          </a:p>
          <a:p>
            <a:pPr marL="344170" indent="-331470">
              <a:lnSpc>
                <a:spcPts val="2555"/>
              </a:lnSpc>
              <a:spcBef>
                <a:spcPts val="120"/>
              </a:spcBef>
              <a:buFont typeface="Arial"/>
              <a:buChar char="•"/>
              <a:tabLst>
                <a:tab pos="344170" algn="l"/>
              </a:tabLst>
            </a:pPr>
            <a:endParaRPr lang="en-US" sz="2400" b="1" dirty="0">
              <a:solidFill>
                <a:srgbClr val="002060"/>
              </a:solidFill>
            </a:endParaRPr>
          </a:p>
          <a:p>
            <a:pPr marL="12700" indent="0">
              <a:lnSpc>
                <a:spcPts val="2555"/>
              </a:lnSpc>
              <a:spcBef>
                <a:spcPts val="120"/>
              </a:spcBef>
              <a:buNone/>
              <a:tabLst>
                <a:tab pos="344170" algn="l"/>
              </a:tabLst>
            </a:pPr>
            <a:endParaRPr lang="en-US" sz="2400" b="1" dirty="0">
              <a:solidFill>
                <a:srgbClr val="002060"/>
              </a:solidFill>
            </a:endParaRPr>
          </a:p>
          <a:p>
            <a:pPr marL="12700" indent="0">
              <a:lnSpc>
                <a:spcPts val="2555"/>
              </a:lnSpc>
              <a:spcBef>
                <a:spcPts val="120"/>
              </a:spcBef>
              <a:buNone/>
              <a:tabLst>
                <a:tab pos="344170" algn="l"/>
              </a:tabLst>
            </a:pPr>
            <a:r>
              <a:rPr lang="en-US" sz="2400" b="1" dirty="0">
                <a:solidFill>
                  <a:srgbClr val="002060"/>
                </a:solidFill>
              </a:rPr>
              <a:t> </a:t>
            </a:r>
            <a:r>
              <a:rPr lang="en-IN" sz="4000" b="1" spc="-10" dirty="0">
                <a:solidFill>
                  <a:srgbClr val="002060"/>
                </a:solidFill>
                <a:cs typeface="Calibri"/>
              </a:rPr>
              <a:t>Source: </a:t>
            </a:r>
            <a:r>
              <a:rPr lang="en-IN" sz="3200" dirty="0"/>
              <a:t>Mohammad Amin </a:t>
            </a:r>
            <a:r>
              <a:rPr lang="en-IN" sz="3200" dirty="0" err="1"/>
              <a:t>Kuhail</a:t>
            </a:r>
            <a:r>
              <a:rPr lang="en-IN" sz="3200" dirty="0"/>
              <a:t>, Mohamed Bahja, Ons Al-</a:t>
            </a:r>
            <a:r>
              <a:rPr lang="en-IN" sz="3200" dirty="0" err="1"/>
              <a:t>Shamaileh</a:t>
            </a:r>
            <a:r>
              <a:rPr lang="en-IN" sz="3200" dirty="0"/>
              <a:t>, Justin Thomas, Amin </a:t>
            </a:r>
            <a:r>
              <a:rPr lang="en-IN" sz="3200" dirty="0" err="1"/>
              <a:t>Alkazemi</a:t>
            </a:r>
            <a:r>
              <a:rPr lang="en-IN" sz="3200" dirty="0"/>
              <a:t>, and Joao Negreiros, “Assessing the Impact of Chatbot-Human Personality Congruence on User </a:t>
            </a:r>
            <a:r>
              <a:rPr lang="en-IN" sz="3200" dirty="0" err="1"/>
              <a:t>Behavior</a:t>
            </a:r>
            <a:r>
              <a:rPr lang="en-IN" sz="3200" dirty="0"/>
              <a:t>: A Chatbot-Based Advising System Case”, IEEE Access, May 2024, DOI: 10.1109/ACCESS.2024.3402977.</a:t>
            </a:r>
            <a:endParaRPr lang="en-IN" sz="3200" dirty="0">
              <a:latin typeface="Trebuchet MS"/>
              <a:cs typeface="Trebuchet MS"/>
            </a:endParaRPr>
          </a:p>
          <a:p>
            <a:pPr marL="0" indent="0">
              <a:buNone/>
              <a:defRPr/>
            </a:pPr>
            <a:endParaRPr lang="en-US" sz="2400" dirty="0">
              <a:solidFill>
                <a:srgbClr val="00B050"/>
              </a:solidFill>
              <a:latin typeface="Times New Roman" panose="02020603050405020304" pitchFamily="18" charset="0"/>
              <a:cs typeface="Times New Roman" panose="02020603050405020304" pitchFamily="18" charset="0"/>
            </a:endParaRPr>
          </a:p>
        </p:txBody>
      </p:sp>
      <p:sp>
        <p:nvSpPr>
          <p:cNvPr id="18436"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70FB9661-A7A0-47A7-9DEF-DB72C08D3539}" type="slidenum">
              <a:rPr lang="en-IN" altLang="en-US" sz="1200">
                <a:solidFill>
                  <a:srgbClr val="898989"/>
                </a:solidFill>
              </a:rPr>
              <a:pPr>
                <a:spcBef>
                  <a:spcPct val="0"/>
                </a:spcBef>
                <a:buFontTx/>
                <a:buNone/>
              </a:pPr>
              <a:t>9</a:t>
            </a:fld>
            <a:endParaRPr lang="en-IN" altLang="en-US" sz="1200">
              <a:solidFill>
                <a:srgbClr val="898989"/>
              </a:solidFill>
            </a:endParaRPr>
          </a:p>
        </p:txBody>
      </p:sp>
      <p:graphicFrame>
        <p:nvGraphicFramePr>
          <p:cNvPr id="4" name="Table 3">
            <a:extLst>
              <a:ext uri="{FF2B5EF4-FFF2-40B4-BE49-F238E27FC236}">
                <a16:creationId xmlns:a16="http://schemas.microsoft.com/office/drawing/2014/main" id="{24EDFFF0-AF62-E81B-10F4-5150B65FF5E8}"/>
              </a:ext>
            </a:extLst>
          </p:cNvPr>
          <p:cNvGraphicFramePr>
            <a:graphicFrameLocks noGrp="1"/>
          </p:cNvGraphicFramePr>
          <p:nvPr>
            <p:extLst>
              <p:ext uri="{D42A27DB-BD31-4B8C-83A1-F6EECF244321}">
                <p14:modId xmlns:p14="http://schemas.microsoft.com/office/powerpoint/2010/main" val="484357088"/>
              </p:ext>
            </p:extLst>
          </p:nvPr>
        </p:nvGraphicFramePr>
        <p:xfrm>
          <a:off x="628650" y="1825625"/>
          <a:ext cx="7704455" cy="2979420"/>
        </p:xfrm>
        <a:graphic>
          <a:graphicData uri="http://schemas.openxmlformats.org/drawingml/2006/table">
            <a:tbl>
              <a:tblPr firstRow="1" bandRow="1">
                <a:tableStyleId>{2D5ABB26-0587-4C30-8999-92F81FD0307C}</a:tableStyleId>
              </a:tblPr>
              <a:tblGrid>
                <a:gridCol w="2712085">
                  <a:extLst>
                    <a:ext uri="{9D8B030D-6E8A-4147-A177-3AD203B41FA5}">
                      <a16:colId xmlns:a16="http://schemas.microsoft.com/office/drawing/2014/main" val="2571035171"/>
                    </a:ext>
                  </a:extLst>
                </a:gridCol>
                <a:gridCol w="2496185">
                  <a:extLst>
                    <a:ext uri="{9D8B030D-6E8A-4147-A177-3AD203B41FA5}">
                      <a16:colId xmlns:a16="http://schemas.microsoft.com/office/drawing/2014/main" val="1014235799"/>
                    </a:ext>
                  </a:extLst>
                </a:gridCol>
                <a:gridCol w="2496185">
                  <a:extLst>
                    <a:ext uri="{9D8B030D-6E8A-4147-A177-3AD203B41FA5}">
                      <a16:colId xmlns:a16="http://schemas.microsoft.com/office/drawing/2014/main" val="395717813"/>
                    </a:ext>
                  </a:extLst>
                </a:gridCol>
              </a:tblGrid>
              <a:tr h="367665">
                <a:tc>
                  <a:txBody>
                    <a:bodyPr/>
                    <a:lstStyle/>
                    <a:p>
                      <a:pPr marL="805180">
                        <a:lnSpc>
                          <a:spcPct val="100000"/>
                        </a:lnSpc>
                        <a:spcBef>
                          <a:spcPts val="285"/>
                        </a:spcBef>
                      </a:pPr>
                      <a:r>
                        <a:rPr sz="1800" b="1" spc="-10" dirty="0">
                          <a:latin typeface="Calibri"/>
                          <a:cs typeface="Calibri"/>
                        </a:rPr>
                        <a:t>Experiment</a:t>
                      </a:r>
                      <a:endParaRPr sz="1800">
                        <a:latin typeface="Calibri"/>
                        <a:cs typeface="Calibri"/>
                      </a:endParaRPr>
                    </a:p>
                  </a:txBody>
                  <a:tcPr marL="0" marR="0" marT="36195" marB="0">
                    <a:lnL w="12700">
                      <a:solidFill>
                        <a:srgbClr val="FFFFFF"/>
                      </a:solidFill>
                      <a:prstDash val="solid"/>
                    </a:lnL>
                    <a:lnR w="12700">
                      <a:solidFill>
                        <a:srgbClr val="FFFFFF"/>
                      </a:solidFill>
                      <a:prstDash val="solid"/>
                    </a:lnR>
                    <a:lnT w="12700">
                      <a:solidFill>
                        <a:srgbClr val="FFFFFF"/>
                      </a:solidFill>
                      <a:prstDash val="solid"/>
                    </a:lnT>
                    <a:lnB w="38100" cap="flat" cmpd="sng" algn="ctr">
                      <a:solidFill>
                        <a:srgbClr val="FFFFFF"/>
                      </a:solidFill>
                      <a:prstDash val="solid"/>
                      <a:round/>
                      <a:headEnd type="none" w="med" len="med"/>
                      <a:tailEnd type="none" w="med" len="med"/>
                    </a:lnB>
                    <a:solidFill>
                      <a:srgbClr val="4E81BD"/>
                    </a:solidFill>
                  </a:tcPr>
                </a:tc>
                <a:tc>
                  <a:txBody>
                    <a:bodyPr/>
                    <a:lstStyle/>
                    <a:p>
                      <a:pPr marL="795655">
                        <a:lnSpc>
                          <a:spcPct val="100000"/>
                        </a:lnSpc>
                        <a:spcBef>
                          <a:spcPts val="285"/>
                        </a:spcBef>
                      </a:pPr>
                      <a:r>
                        <a:rPr sz="1800" b="1" spc="-10" dirty="0">
                          <a:latin typeface="Calibri"/>
                          <a:cs typeface="Calibri"/>
                        </a:rPr>
                        <a:t>Inference</a:t>
                      </a:r>
                      <a:endParaRPr sz="1800">
                        <a:latin typeface="Calibri"/>
                        <a:cs typeface="Calibri"/>
                      </a:endParaRPr>
                    </a:p>
                  </a:txBody>
                  <a:tcPr marL="0" marR="0" marT="36195" marB="0">
                    <a:lnL w="12700">
                      <a:solidFill>
                        <a:srgbClr val="FFFFFF"/>
                      </a:solidFill>
                      <a:prstDash val="solid"/>
                    </a:lnL>
                    <a:lnR w="12700">
                      <a:solidFill>
                        <a:srgbClr val="FFFFFF"/>
                      </a:solidFill>
                      <a:prstDash val="solid"/>
                    </a:lnR>
                    <a:lnT w="12700">
                      <a:solidFill>
                        <a:srgbClr val="FFFFFF"/>
                      </a:solidFill>
                      <a:prstDash val="solid"/>
                    </a:lnT>
                    <a:lnB w="38100" cap="flat" cmpd="sng" algn="ctr">
                      <a:solidFill>
                        <a:srgbClr val="FFFFFF"/>
                      </a:solidFill>
                      <a:prstDash val="solid"/>
                      <a:round/>
                      <a:headEnd type="none" w="med" len="med"/>
                      <a:tailEnd type="none" w="med" len="med"/>
                    </a:lnB>
                    <a:solidFill>
                      <a:srgbClr val="4E81BD"/>
                    </a:solidFill>
                  </a:tcPr>
                </a:tc>
                <a:tc>
                  <a:txBody>
                    <a:bodyPr/>
                    <a:lstStyle/>
                    <a:p>
                      <a:pPr marL="643255">
                        <a:lnSpc>
                          <a:spcPct val="100000"/>
                        </a:lnSpc>
                        <a:spcBef>
                          <a:spcPts val="285"/>
                        </a:spcBef>
                      </a:pPr>
                      <a:r>
                        <a:rPr sz="1800" b="1" dirty="0">
                          <a:latin typeface="Calibri"/>
                          <a:cs typeface="Calibri"/>
                        </a:rPr>
                        <a:t>Problem</a:t>
                      </a:r>
                      <a:r>
                        <a:rPr sz="1800" b="1" spc="-65" dirty="0">
                          <a:latin typeface="Calibri"/>
                          <a:cs typeface="Calibri"/>
                        </a:rPr>
                        <a:t> </a:t>
                      </a:r>
                      <a:r>
                        <a:rPr sz="1800" b="1" spc="-25" dirty="0">
                          <a:latin typeface="Calibri"/>
                          <a:cs typeface="Calibri"/>
                        </a:rPr>
                        <a:t>gap</a:t>
                      </a:r>
                      <a:endParaRPr sz="1800">
                        <a:latin typeface="Calibri"/>
                        <a:cs typeface="Calibri"/>
                      </a:endParaRPr>
                    </a:p>
                  </a:txBody>
                  <a:tcPr marL="0" marR="0" marT="36195" marB="0">
                    <a:lnL w="12700">
                      <a:solidFill>
                        <a:srgbClr val="FFFFFF"/>
                      </a:solidFill>
                      <a:prstDash val="solid"/>
                    </a:lnL>
                    <a:lnR w="12700">
                      <a:solidFill>
                        <a:srgbClr val="FFFFFF"/>
                      </a:solidFill>
                      <a:prstDash val="solid"/>
                    </a:lnR>
                    <a:lnT w="12700">
                      <a:solidFill>
                        <a:srgbClr val="FFFFFF"/>
                      </a:solidFill>
                      <a:prstDash val="solid"/>
                    </a:lnT>
                    <a:lnB w="38100" cap="flat" cmpd="sng" algn="ctr">
                      <a:solidFill>
                        <a:srgbClr val="FFFFFF"/>
                      </a:solidFill>
                      <a:prstDash val="solid"/>
                      <a:round/>
                      <a:headEnd type="none" w="med" len="med"/>
                      <a:tailEnd type="none" w="med" len="med"/>
                    </a:lnB>
                    <a:solidFill>
                      <a:srgbClr val="4E81BD"/>
                    </a:solidFill>
                  </a:tcPr>
                </a:tc>
                <a:extLst>
                  <a:ext uri="{0D108BD9-81ED-4DB2-BD59-A6C34878D82A}">
                    <a16:rowId xmlns:a16="http://schemas.microsoft.com/office/drawing/2014/main" val="4044966584"/>
                  </a:ext>
                </a:extLst>
              </a:tr>
              <a:tr h="2611755">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t>Studied how chatbot-human personality match affects behavior, with 54 students using chatbots of three personalities; measured engagement, trust, and use intention via surveys and interviews.</a:t>
                      </a:r>
                    </a:p>
                  </a:txBody>
                  <a:tcPr marL="91436" marR="91436" marT="45716" marB="45716">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6E7"/>
                    </a:solid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t>Findings showed personality congruence boosted trust and engagement, especially for extroverted users, while effects were minimal for conscientious and agreeable participants.</a:t>
                      </a:r>
                    </a:p>
                  </a:txBody>
                  <a:tcPr marL="91436" marR="91436" marT="45716" marB="45716">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6E7"/>
                    </a:solidFill>
                  </a:tcPr>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t>Personality congruence boosted trust but was limited to small, fixed settings; </a:t>
                      </a:r>
                      <a:r>
                        <a:rPr lang="en-US" dirty="0" err="1"/>
                        <a:t>CampusConnect</a:t>
                      </a:r>
                      <a:r>
                        <a:rPr lang="en-US" dirty="0"/>
                        <a:t> fills this gap with dynamic, personalized chatbot responses for lasting engagement.</a:t>
                      </a:r>
                    </a:p>
                  </a:txBody>
                  <a:tcPr marL="91436" marR="91436" marT="45716" marB="45716">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6E7"/>
                    </a:solidFill>
                  </a:tcPr>
                </a:tc>
                <a:extLst>
                  <a:ext uri="{0D108BD9-81ED-4DB2-BD59-A6C34878D82A}">
                    <a16:rowId xmlns:a16="http://schemas.microsoft.com/office/drawing/2014/main" val="3957377908"/>
                  </a:ext>
                </a:extLst>
              </a:tr>
            </a:tbl>
          </a:graphicData>
        </a:graphic>
      </p:graphicFrame>
    </p:spTree>
    <p:extLst>
      <p:ext uri="{BB962C8B-B14F-4D97-AF65-F5344CB8AC3E}">
        <p14:creationId xmlns:p14="http://schemas.microsoft.com/office/powerpoint/2010/main" val="8657045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US" altLang="en-US" sz="2800" dirty="0">
                <a:latin typeface="Arial" panose="020B0604020202020204" pitchFamily="34" charset="0"/>
                <a:cs typeface="Arial" panose="020B0604020202020204" pitchFamily="34" charset="0"/>
              </a:rPr>
              <a:t>Literature Survey - 05</a:t>
            </a:r>
            <a:endParaRPr lang="en-US" altLang="en-US" sz="2800" b="1" dirty="0">
              <a:solidFill>
                <a:srgbClr val="7030A0"/>
              </a:solidFill>
              <a:latin typeface="Arial" panose="020B0604020202020204" pitchFamily="34" charset="0"/>
              <a:cs typeface="Arial" panose="020B0604020202020204" pitchFamily="34" charset="0"/>
            </a:endParaRPr>
          </a:p>
        </p:txBody>
      </p:sp>
      <p:sp>
        <p:nvSpPr>
          <p:cNvPr id="9219" name="Content Placeholder 2"/>
          <p:cNvSpPr>
            <a:spLocks noGrp="1"/>
          </p:cNvSpPr>
          <p:nvPr>
            <p:ph idx="1"/>
          </p:nvPr>
        </p:nvSpPr>
        <p:spPr/>
        <p:txBody>
          <a:bodyPr>
            <a:normAutofit fontScale="92500" lnSpcReduction="20000"/>
          </a:bodyPr>
          <a:lstStyle/>
          <a:p>
            <a:pPr marL="0" indent="0">
              <a:buFont typeface="Arial" panose="020B0604020202020204" pitchFamily="34" charset="0"/>
              <a:buNone/>
              <a:defRPr/>
            </a:pPr>
            <a:endParaRPr lang="en-US" sz="2400" dirty="0">
              <a:solidFill>
                <a:srgbClr val="002060"/>
              </a:solidFill>
            </a:endParaRPr>
          </a:p>
          <a:p>
            <a:pPr marL="0" indent="0">
              <a:buFont typeface="Arial" panose="020B0604020202020204" pitchFamily="34" charset="0"/>
              <a:buNone/>
              <a:defRPr/>
            </a:pPr>
            <a:endParaRPr lang="en-US" sz="2400" dirty="0">
              <a:solidFill>
                <a:srgbClr val="002060"/>
              </a:solidFill>
            </a:endParaRPr>
          </a:p>
          <a:p>
            <a:pPr marL="0" indent="0">
              <a:buFont typeface="Arial" panose="020B0604020202020204" pitchFamily="34" charset="0"/>
              <a:buNone/>
              <a:defRPr/>
            </a:pPr>
            <a:endParaRPr lang="en-US" sz="2400" dirty="0">
              <a:solidFill>
                <a:srgbClr val="002060"/>
              </a:solidFill>
            </a:endParaRPr>
          </a:p>
          <a:p>
            <a:pPr marL="0" indent="0">
              <a:buFont typeface="Arial" panose="020B0604020202020204" pitchFamily="34" charset="0"/>
              <a:buNone/>
              <a:defRPr/>
            </a:pPr>
            <a:endParaRPr lang="en-US" sz="2400" dirty="0"/>
          </a:p>
          <a:p>
            <a:pPr marL="0" indent="0">
              <a:buFont typeface="Arial" panose="020B0604020202020204" pitchFamily="34" charset="0"/>
              <a:buNone/>
              <a:defRPr/>
            </a:pPr>
            <a:endParaRPr lang="en-US" sz="2400" dirty="0"/>
          </a:p>
          <a:p>
            <a:pPr marL="0" indent="0">
              <a:buFont typeface="Arial" panose="020B0604020202020204" pitchFamily="34" charset="0"/>
              <a:buNone/>
              <a:defRPr/>
            </a:pPr>
            <a:endParaRPr lang="en-US" sz="2400" dirty="0"/>
          </a:p>
          <a:p>
            <a:pPr marL="0" indent="0">
              <a:buFont typeface="Arial" panose="020B0604020202020204" pitchFamily="34" charset="0"/>
              <a:buNone/>
              <a:defRPr/>
            </a:pPr>
            <a:endParaRPr lang="en-US" sz="2400" dirty="0"/>
          </a:p>
          <a:p>
            <a:pPr marL="0" indent="0">
              <a:buFont typeface="Arial" panose="020B0604020202020204" pitchFamily="34" charset="0"/>
              <a:buNone/>
              <a:defRPr/>
            </a:pPr>
            <a:endParaRPr lang="en-US" sz="2400" dirty="0"/>
          </a:p>
          <a:p>
            <a:pPr marL="0" indent="0">
              <a:buFont typeface="Arial" panose="020B0604020202020204" pitchFamily="34" charset="0"/>
              <a:buNone/>
              <a:defRPr/>
            </a:pPr>
            <a:endParaRPr lang="en-US" sz="2400" dirty="0"/>
          </a:p>
          <a:p>
            <a:pPr algn="just">
              <a:defRPr/>
            </a:pPr>
            <a:r>
              <a:rPr lang="en-US" sz="2400" b="1" dirty="0">
                <a:solidFill>
                  <a:srgbClr val="002060"/>
                </a:solidFill>
              </a:rPr>
              <a:t>Source: </a:t>
            </a:r>
            <a:r>
              <a:rPr lang="en-US" sz="2400" dirty="0" err="1"/>
              <a:t>Nazzere</a:t>
            </a:r>
            <a:r>
              <a:rPr lang="en-US" sz="2400" dirty="0"/>
              <a:t> </a:t>
            </a:r>
            <a:r>
              <a:rPr lang="en-US" sz="2400" dirty="0" err="1"/>
              <a:t>Oryngozha</a:t>
            </a:r>
            <a:r>
              <a:rPr lang="en-US" sz="2400" dirty="0"/>
              <a:t>, </a:t>
            </a:r>
            <a:r>
              <a:rPr lang="en-US" sz="2400" dirty="0" err="1"/>
              <a:t>Pakizar</a:t>
            </a:r>
            <a:r>
              <a:rPr lang="en-US" sz="2400" dirty="0"/>
              <a:t> Shamoi, and Ayan Igali, “Detection and Analysis of Stress-Related Posts in Reddit’s Academic Communities”, IEEE Access, Jan 2024, DOI: 10.1109/ACCESS.2024.3357662.</a:t>
            </a:r>
            <a:endParaRPr lang="en-US" sz="2400" dirty="0">
              <a:solidFill>
                <a:srgbClr val="00B050"/>
              </a:solidFill>
              <a:latin typeface="Times New Roman" panose="02020603050405020304" pitchFamily="18" charset="0"/>
              <a:cs typeface="Times New Roman" panose="02020603050405020304" pitchFamily="18" charset="0"/>
            </a:endParaRPr>
          </a:p>
        </p:txBody>
      </p:sp>
      <p:sp>
        <p:nvSpPr>
          <p:cNvPr id="18436"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70FB9661-A7A0-47A7-9DEF-DB72C08D3539}" type="slidenum">
              <a:rPr lang="en-IN" altLang="en-US" sz="1200">
                <a:solidFill>
                  <a:srgbClr val="898989"/>
                </a:solidFill>
              </a:rPr>
              <a:pPr>
                <a:spcBef>
                  <a:spcPct val="0"/>
                </a:spcBef>
                <a:buFontTx/>
                <a:buNone/>
              </a:pPr>
              <a:t>10</a:t>
            </a:fld>
            <a:endParaRPr lang="en-IN" altLang="en-US" sz="1200">
              <a:solidFill>
                <a:srgbClr val="898989"/>
              </a:solidFill>
            </a:endParaRPr>
          </a:p>
        </p:txBody>
      </p:sp>
      <p:graphicFrame>
        <p:nvGraphicFramePr>
          <p:cNvPr id="2" name="Table 1"/>
          <p:cNvGraphicFramePr>
            <a:graphicFrameLocks noGrp="1"/>
          </p:cNvGraphicFramePr>
          <p:nvPr>
            <p:extLst>
              <p:ext uri="{D42A27DB-BD31-4B8C-83A1-F6EECF244321}">
                <p14:modId xmlns:p14="http://schemas.microsoft.com/office/powerpoint/2010/main" val="2968585993"/>
              </p:ext>
            </p:extLst>
          </p:nvPr>
        </p:nvGraphicFramePr>
        <p:xfrm>
          <a:off x="539750" y="1641475"/>
          <a:ext cx="7704139" cy="2978150"/>
        </p:xfrm>
        <a:graphic>
          <a:graphicData uri="http://schemas.openxmlformats.org/drawingml/2006/table">
            <a:tbl>
              <a:tblPr firstRow="1" bandRow="1">
                <a:tableStyleId>{5C22544A-7EE6-4342-B048-85BDC9FD1C3A}</a:tableStyleId>
              </a:tblPr>
              <a:tblGrid>
                <a:gridCol w="2712049">
                  <a:extLst>
                    <a:ext uri="{9D8B030D-6E8A-4147-A177-3AD203B41FA5}">
                      <a16:colId xmlns:a16="http://schemas.microsoft.com/office/drawing/2014/main" val="20000"/>
                    </a:ext>
                  </a:extLst>
                </a:gridCol>
                <a:gridCol w="2496045">
                  <a:extLst>
                    <a:ext uri="{9D8B030D-6E8A-4147-A177-3AD203B41FA5}">
                      <a16:colId xmlns:a16="http://schemas.microsoft.com/office/drawing/2014/main" val="20001"/>
                    </a:ext>
                  </a:extLst>
                </a:gridCol>
                <a:gridCol w="2496045">
                  <a:extLst>
                    <a:ext uri="{9D8B030D-6E8A-4147-A177-3AD203B41FA5}">
                      <a16:colId xmlns:a16="http://schemas.microsoft.com/office/drawing/2014/main" val="20002"/>
                    </a:ext>
                  </a:extLst>
                </a:gridCol>
              </a:tblGrid>
              <a:tr h="365778">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Experiment</a:t>
                      </a:r>
                    </a:p>
                  </a:txBody>
                  <a:tcPr marL="91436" marR="91436" marT="45716" marB="45716"/>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Inference</a:t>
                      </a:r>
                    </a:p>
                  </a:txBody>
                  <a:tcPr marL="91436" marR="91436" marT="45716" marB="45716"/>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800" dirty="0">
                          <a:solidFill>
                            <a:schemeClr val="tx1"/>
                          </a:solidFill>
                        </a:rPr>
                        <a:t>Problem gap</a:t>
                      </a:r>
                    </a:p>
                  </a:txBody>
                  <a:tcPr marL="91436" marR="91436" marT="45716" marB="45716"/>
                </a:tc>
                <a:extLst>
                  <a:ext uri="{0D108BD9-81ED-4DB2-BD59-A6C34878D82A}">
                    <a16:rowId xmlns:a16="http://schemas.microsoft.com/office/drawing/2014/main" val="10000"/>
                  </a:ext>
                </a:extLst>
              </a:tr>
              <a:tr h="2612372">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t>Applied NLP with Bag of Words + Logistic Regression on the </a:t>
                      </a:r>
                      <a:r>
                        <a:rPr lang="en-US" dirty="0" err="1"/>
                        <a:t>Dreaddit</a:t>
                      </a:r>
                      <a:r>
                        <a:rPr lang="en-US" dirty="0"/>
                        <a:t> dataset to detect stress in Reddit academic posts, achieving 77.78% accuracy (F1=0.79) and 72% on manual validation.</a:t>
                      </a:r>
                    </a:p>
                    <a:p>
                      <a:pPr algn="just"/>
                      <a:endParaRPr lang="en-US" sz="1800" dirty="0"/>
                    </a:p>
                  </a:txBody>
                  <a:tcPr marL="91436" marR="91436" marT="45716" marB="45716"/>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t>The study found ~29% of academic subreddit posts show stress, highest in professors’ communities, highlighting ML’s value for early stress detection in online discussions.</a:t>
                      </a:r>
                    </a:p>
                    <a:p>
                      <a:endParaRPr lang="en-US" sz="1800" dirty="0"/>
                    </a:p>
                  </a:txBody>
                  <a:tcPr marL="91436" marR="91436" marT="45716" marB="45716"/>
                </a:tc>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dirty="0"/>
                        <a:t>The model was limited to Reddit text and simple validation, while </a:t>
                      </a:r>
                      <a:r>
                        <a:rPr lang="en-US" dirty="0" err="1"/>
                        <a:t>CampusConnect</a:t>
                      </a:r>
                      <a:r>
                        <a:rPr lang="en-US" dirty="0"/>
                        <a:t> adds AI chatbots for real-time stress detection and support.</a:t>
                      </a:r>
                    </a:p>
                    <a:p>
                      <a:endParaRPr lang="en-US" sz="1800" dirty="0"/>
                    </a:p>
                  </a:txBody>
                  <a:tcPr marL="91436" marR="91436" marT="45716" marB="45716"/>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6071674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r>
              <a:rPr lang="en-US" sz="2800" dirty="0">
                <a:latin typeface="Arial" panose="020B0604020202020204" pitchFamily="34" charset="0"/>
                <a:cs typeface="Arial" panose="020B0604020202020204" pitchFamily="34" charset="0"/>
              </a:rPr>
              <a:t>Existing technology of the project</a:t>
            </a:r>
            <a:endParaRPr lang="en-US" sz="2800" b="1" dirty="0">
              <a:solidFill>
                <a:srgbClr val="7030A0"/>
              </a:solidFill>
              <a:latin typeface="Arial" panose="020B0604020202020204" pitchFamily="34" charset="0"/>
              <a:cs typeface="Arial" panose="020B0604020202020204" pitchFamily="34" charset="0"/>
            </a:endParaRPr>
          </a:p>
        </p:txBody>
      </p:sp>
      <p:sp>
        <p:nvSpPr>
          <p:cNvPr id="9219" name="Content Placeholder 2"/>
          <p:cNvSpPr>
            <a:spLocks noGrp="1"/>
          </p:cNvSpPr>
          <p:nvPr>
            <p:ph idx="1"/>
          </p:nvPr>
        </p:nvSpPr>
        <p:spPr>
          <a:xfrm>
            <a:off x="457200" y="1708484"/>
            <a:ext cx="8229600" cy="4468479"/>
          </a:xfrm>
        </p:spPr>
        <p:txBody>
          <a:bodyPr>
            <a:normAutofit fontScale="47500" lnSpcReduction="20000"/>
          </a:bodyPr>
          <a:lstStyle/>
          <a:p>
            <a:pPr marL="285750" indent="-285750" algn="just"/>
            <a:r>
              <a:rPr lang="en-US" sz="4500" dirty="0">
                <a:solidFill>
                  <a:srgbClr val="FF0000"/>
                </a:solidFill>
              </a:rPr>
              <a:t>Personality-Adapted Chatbots: Chatbots that adjust their tone, language, and responses based on user personality traits to create better engagement.</a:t>
            </a:r>
          </a:p>
          <a:p>
            <a:pPr marL="285750" indent="-285750" algn="just"/>
            <a:r>
              <a:rPr lang="en-US" sz="4500" dirty="0">
                <a:solidFill>
                  <a:srgbClr val="FF0000"/>
                </a:solidFill>
              </a:rPr>
              <a:t>Educational Advising Bots: Chatbots used as virtual academic advisors that can respond to student queries about curriculum, scheduling, and institutional policies.</a:t>
            </a:r>
          </a:p>
          <a:p>
            <a:pPr marL="285750" indent="-285750" algn="just"/>
            <a:r>
              <a:rPr lang="en-US" sz="4500" dirty="0">
                <a:solidFill>
                  <a:srgbClr val="FF0000"/>
                </a:solidFill>
              </a:rPr>
              <a:t>User Behavior Analysis: Systems that evaluate how users interact with different chatbot personalities to improve UX and retention.</a:t>
            </a:r>
          </a:p>
          <a:p>
            <a:pPr marL="285750" indent="-285750" algn="just"/>
            <a:r>
              <a:rPr lang="en-US" sz="4500" dirty="0">
                <a:solidFill>
                  <a:srgbClr val="FF0000"/>
                </a:solidFill>
              </a:rPr>
              <a:t>Emotionally Congruent Interfaces: Development of chatbot interfaces and response patterns that feel more “human,” improving user satisfaction and interaction depth</a:t>
            </a:r>
            <a:endParaRPr lang="en-US" sz="4500" dirty="0"/>
          </a:p>
          <a:p>
            <a:pPr marL="0" indent="0" algn="just">
              <a:buFont typeface="Arial" panose="020B0604020202020204" pitchFamily="34" charset="0"/>
              <a:buNone/>
            </a:pPr>
            <a:endParaRPr lang="en-US" sz="2400" dirty="0"/>
          </a:p>
          <a:p>
            <a:pPr marL="0" indent="0" algn="just">
              <a:buNone/>
            </a:pPr>
            <a:r>
              <a:rPr lang="en-US" sz="3400" dirty="0">
                <a:solidFill>
                  <a:srgbClr val="FF0000"/>
                </a:solidFill>
              </a:rPr>
              <a:t>Source:</a:t>
            </a:r>
          </a:p>
          <a:p>
            <a:pPr marL="0" indent="0" algn="just">
              <a:buNone/>
            </a:pPr>
            <a:r>
              <a:rPr lang="en-US" sz="3400" dirty="0"/>
              <a:t>Assessing the Impact of Chatbot-Human Personality Congruence on User Behavior: A Chatbot-Based Advising System Case”, Mohammad Amin </a:t>
            </a:r>
            <a:r>
              <a:rPr lang="en-US" sz="3400" dirty="0" err="1"/>
              <a:t>Kuhail</a:t>
            </a:r>
            <a:r>
              <a:rPr lang="en-US" sz="3400" dirty="0"/>
              <a:t>, Mohamed Bahja, Ons Al-</a:t>
            </a:r>
            <a:r>
              <a:rPr lang="en-US" sz="3400" dirty="0" err="1"/>
              <a:t>Shamaileh</a:t>
            </a:r>
            <a:r>
              <a:rPr lang="en-US" sz="3400" dirty="0"/>
              <a:t>, Justin Thomas, Amina </a:t>
            </a:r>
            <a:r>
              <a:rPr lang="en-US" sz="3400" dirty="0" err="1"/>
              <a:t>Alkazemi</a:t>
            </a:r>
            <a:r>
              <a:rPr lang="en-US" sz="3400" dirty="0"/>
              <a:t>, and Joao Negreiros, IEEE Access, Vol. 12, No. –, pp. –, 2024. (Scopus Indexed)</a:t>
            </a:r>
          </a:p>
        </p:txBody>
      </p:sp>
      <p:sp>
        <p:nvSpPr>
          <p:cNvPr id="922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5E70BF35-1420-42AA-97E0-CDD574E5E82B}" type="slidenum">
              <a:rPr lang="en-IN" sz="1200" smtClean="0">
                <a:solidFill>
                  <a:srgbClr val="898989"/>
                </a:solidFill>
              </a:rPr>
              <a:pPr>
                <a:spcBef>
                  <a:spcPct val="0"/>
                </a:spcBef>
                <a:buFontTx/>
                <a:buNone/>
              </a:pPr>
              <a:t>11</a:t>
            </a:fld>
            <a:endParaRPr lang="en-IN" sz="1200">
              <a:solidFill>
                <a:srgbClr val="898989"/>
              </a:solidFill>
            </a:endParaRPr>
          </a:p>
        </p:txBody>
      </p:sp>
    </p:spTree>
    <p:extLst>
      <p:ext uri="{BB962C8B-B14F-4D97-AF65-F5344CB8AC3E}">
        <p14:creationId xmlns:p14="http://schemas.microsoft.com/office/powerpoint/2010/main" val="29891724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p:txBody>
          <a:bodyPr/>
          <a:lstStyle/>
          <a:p>
            <a:r>
              <a:rPr lang="en-US" sz="2800" dirty="0">
                <a:latin typeface="Arial" panose="020B0604020202020204" pitchFamily="34" charset="0"/>
                <a:cs typeface="Arial" panose="020B0604020202020204" pitchFamily="34" charset="0"/>
              </a:rPr>
              <a:t>Existing technology of the project</a:t>
            </a:r>
            <a:endParaRPr lang="en-US" sz="2800" b="1" dirty="0">
              <a:solidFill>
                <a:srgbClr val="7030A0"/>
              </a:solidFill>
              <a:latin typeface="Arial" panose="020B0604020202020204" pitchFamily="34" charset="0"/>
              <a:cs typeface="Arial" panose="020B0604020202020204" pitchFamily="34" charset="0"/>
            </a:endParaRPr>
          </a:p>
        </p:txBody>
      </p:sp>
      <p:sp>
        <p:nvSpPr>
          <p:cNvPr id="9219" name="Content Placeholder 2"/>
          <p:cNvSpPr>
            <a:spLocks noGrp="1"/>
          </p:cNvSpPr>
          <p:nvPr>
            <p:ph idx="1"/>
          </p:nvPr>
        </p:nvSpPr>
        <p:spPr>
          <a:xfrm>
            <a:off x="562980" y="1503947"/>
            <a:ext cx="7886700" cy="4697079"/>
          </a:xfrm>
        </p:spPr>
        <p:txBody>
          <a:bodyPr/>
          <a:lstStyle/>
          <a:p>
            <a:pPr marL="0" indent="0">
              <a:buFont typeface="Arial" panose="020B0604020202020204" pitchFamily="34" charset="0"/>
              <a:buNone/>
            </a:pPr>
            <a:r>
              <a:rPr lang="en-US" sz="2400" b="1" dirty="0">
                <a:solidFill>
                  <a:srgbClr val="FF0000"/>
                </a:solidFill>
                <a:latin typeface="Times New Roman" panose="02020603050405020304" pitchFamily="18" charset="0"/>
                <a:cs typeface="Times New Roman" panose="02020603050405020304" pitchFamily="18" charset="0"/>
              </a:rPr>
              <a:t>Photographs</a:t>
            </a:r>
          </a:p>
        </p:txBody>
      </p:sp>
      <p:sp>
        <p:nvSpPr>
          <p:cNvPr id="922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5E70BF35-1420-42AA-97E0-CDD574E5E82B}" type="slidenum">
              <a:rPr lang="en-IN" sz="1200" smtClean="0">
                <a:solidFill>
                  <a:srgbClr val="898989"/>
                </a:solidFill>
              </a:rPr>
              <a:pPr>
                <a:spcBef>
                  <a:spcPct val="0"/>
                </a:spcBef>
                <a:buFontTx/>
                <a:buNone/>
              </a:pPr>
              <a:t>12</a:t>
            </a:fld>
            <a:endParaRPr lang="en-IN" sz="1200">
              <a:solidFill>
                <a:srgbClr val="898989"/>
              </a:solidFill>
            </a:endParaRPr>
          </a:p>
        </p:txBody>
      </p:sp>
      <p:pic>
        <p:nvPicPr>
          <p:cNvPr id="2" name="Picture 1">
            <a:extLst>
              <a:ext uri="{FF2B5EF4-FFF2-40B4-BE49-F238E27FC236}">
                <a16:creationId xmlns:a16="http://schemas.microsoft.com/office/drawing/2014/main" id="{8BBD3275-3BD5-6A95-9A22-6BBD6D89CDB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2980" y="2060667"/>
            <a:ext cx="8018040" cy="3816425"/>
          </a:xfrm>
          <a:prstGeom prst="rect">
            <a:avLst/>
          </a:prstGeom>
        </p:spPr>
      </p:pic>
    </p:spTree>
    <p:extLst>
      <p:ext uri="{BB962C8B-B14F-4D97-AF65-F5344CB8AC3E}">
        <p14:creationId xmlns:p14="http://schemas.microsoft.com/office/powerpoint/2010/main" val="14550667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642938" y="214313"/>
            <a:ext cx="7515225" cy="1214437"/>
          </a:xfrm>
        </p:spPr>
        <p:txBody>
          <a:bodyPr/>
          <a:lstStyle/>
          <a:p>
            <a:r>
              <a:rPr lang="en-US" sz="2800" dirty="0">
                <a:latin typeface="Arial" panose="020B0604020202020204" pitchFamily="34" charset="0"/>
                <a:cs typeface="Arial" panose="020B0604020202020204" pitchFamily="34" charset="0"/>
              </a:rPr>
              <a:t>Methodology adopted</a:t>
            </a:r>
            <a:endParaRPr lang="en-IN" sz="2800" b="1" dirty="0">
              <a:solidFill>
                <a:srgbClr val="7030A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395288" y="1500188"/>
            <a:ext cx="8280400" cy="3008312"/>
          </a:xfrm>
        </p:spPr>
        <p:txBody>
          <a:bodyPr rtlCol="0">
            <a:normAutofit/>
          </a:bodyPr>
          <a:lstStyle/>
          <a:p>
            <a:pPr marL="0" indent="0" algn="just" eaLnBrk="1" fontAlgn="auto" hangingPunct="1">
              <a:spcAft>
                <a:spcPts val="0"/>
              </a:spcAft>
              <a:buFont typeface="Arial" panose="020B0604020202020204" pitchFamily="34" charset="0"/>
              <a:buNone/>
              <a:defRPr/>
            </a:pPr>
            <a:endParaRPr lang="en-IN" sz="5300" dirty="0">
              <a:latin typeface="Arial" pitchFamily="34" charset="0"/>
              <a:cs typeface="Arial" pitchFamily="34" charset="0"/>
            </a:endParaRPr>
          </a:p>
          <a:p>
            <a:pPr eaLnBrk="1" fontAlgn="auto" hangingPunct="1">
              <a:spcAft>
                <a:spcPts val="0"/>
              </a:spcAft>
              <a:defRPr/>
            </a:pPr>
            <a:endParaRPr lang="en-IN" dirty="0"/>
          </a:p>
        </p:txBody>
      </p:sp>
      <p:sp>
        <p:nvSpPr>
          <p:cNvPr id="1434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E51C282-E751-46B4-A11D-51DF6B800694}" type="slidenum">
              <a:rPr lang="en-IN" sz="1200" smtClean="0">
                <a:solidFill>
                  <a:srgbClr val="898989"/>
                </a:solidFill>
              </a:rPr>
              <a:pPr>
                <a:spcBef>
                  <a:spcPct val="0"/>
                </a:spcBef>
                <a:buFontTx/>
                <a:buNone/>
              </a:pPr>
              <a:t>13</a:t>
            </a:fld>
            <a:endParaRPr lang="en-IN" sz="1200">
              <a:solidFill>
                <a:srgbClr val="898989"/>
              </a:solidFill>
            </a:endParaRPr>
          </a:p>
        </p:txBody>
      </p:sp>
      <p:sp>
        <p:nvSpPr>
          <p:cNvPr id="2" name="Rectangle 1"/>
          <p:cNvSpPr/>
          <p:nvPr/>
        </p:nvSpPr>
        <p:spPr>
          <a:xfrm>
            <a:off x="251520" y="1512764"/>
            <a:ext cx="1697901" cy="461665"/>
          </a:xfrm>
          <a:prstGeom prst="rect">
            <a:avLst/>
          </a:prstGeom>
        </p:spPr>
        <p:txBody>
          <a:bodyPr wrap="square">
            <a:spAutoFit/>
          </a:bodyPr>
          <a:lstStyle/>
          <a:p>
            <a:r>
              <a:rPr lang="en-US" sz="2400" b="1" dirty="0">
                <a:solidFill>
                  <a:srgbClr val="FF0000"/>
                </a:solidFill>
                <a:latin typeface="Times New Roman" panose="02020603050405020304" pitchFamily="18" charset="0"/>
                <a:cs typeface="Times New Roman" panose="02020603050405020304" pitchFamily="18" charset="0"/>
              </a:rPr>
              <a:t>Flow Chart</a:t>
            </a:r>
          </a:p>
        </p:txBody>
      </p:sp>
      <p:pic>
        <p:nvPicPr>
          <p:cNvPr id="4" name="Picture 3">
            <a:extLst>
              <a:ext uri="{FF2B5EF4-FFF2-40B4-BE49-F238E27FC236}">
                <a16:creationId xmlns:a16="http://schemas.microsoft.com/office/drawing/2014/main" id="{E759988B-4FAE-F494-21E2-81C79F38DF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68688" y="1500189"/>
            <a:ext cx="2133599" cy="4856161"/>
          </a:xfrm>
          <a:prstGeom prst="rect">
            <a:avLst/>
          </a:prstGeom>
        </p:spPr>
      </p:pic>
    </p:spTree>
    <p:extLst>
      <p:ext uri="{BB962C8B-B14F-4D97-AF65-F5344CB8AC3E}">
        <p14:creationId xmlns:p14="http://schemas.microsoft.com/office/powerpoint/2010/main" val="23808539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642938" y="214313"/>
            <a:ext cx="7515225" cy="1214437"/>
          </a:xfrm>
        </p:spPr>
        <p:txBody>
          <a:bodyPr/>
          <a:lstStyle/>
          <a:p>
            <a:r>
              <a:rPr lang="en-US" sz="2800" dirty="0">
                <a:latin typeface="Arial" panose="020B0604020202020204" pitchFamily="34" charset="0"/>
                <a:cs typeface="Arial" panose="020B0604020202020204" pitchFamily="34" charset="0"/>
              </a:rPr>
              <a:t>Technical feasibility</a:t>
            </a:r>
            <a:endParaRPr lang="en-IN" sz="2800" b="1" dirty="0">
              <a:solidFill>
                <a:srgbClr val="7030A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395288" y="1500188"/>
            <a:ext cx="8280400" cy="3008312"/>
          </a:xfrm>
        </p:spPr>
        <p:txBody>
          <a:bodyPr rtlCol="0">
            <a:normAutofit/>
          </a:bodyPr>
          <a:lstStyle/>
          <a:p>
            <a:pPr marL="0" indent="0" algn="just" eaLnBrk="1" fontAlgn="auto" hangingPunct="1">
              <a:spcAft>
                <a:spcPts val="0"/>
              </a:spcAft>
              <a:buFont typeface="Arial" panose="020B0604020202020204" pitchFamily="34" charset="0"/>
              <a:buNone/>
              <a:defRPr/>
            </a:pPr>
            <a:endParaRPr lang="en-IN" sz="5300" dirty="0">
              <a:latin typeface="Arial" pitchFamily="34" charset="0"/>
              <a:cs typeface="Arial" pitchFamily="34" charset="0"/>
            </a:endParaRPr>
          </a:p>
          <a:p>
            <a:pPr eaLnBrk="1" fontAlgn="auto" hangingPunct="1">
              <a:spcAft>
                <a:spcPts val="0"/>
              </a:spcAft>
              <a:defRPr/>
            </a:pPr>
            <a:endParaRPr lang="en-IN" dirty="0"/>
          </a:p>
        </p:txBody>
      </p:sp>
      <p:sp>
        <p:nvSpPr>
          <p:cNvPr id="1434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E51C282-E751-46B4-A11D-51DF6B800694}" type="slidenum">
              <a:rPr lang="en-IN" sz="1200" smtClean="0">
                <a:solidFill>
                  <a:srgbClr val="898989"/>
                </a:solidFill>
              </a:rPr>
              <a:pPr>
                <a:spcBef>
                  <a:spcPct val="0"/>
                </a:spcBef>
                <a:buFontTx/>
                <a:buNone/>
              </a:pPr>
              <a:t>14</a:t>
            </a:fld>
            <a:endParaRPr lang="en-IN" sz="1200">
              <a:solidFill>
                <a:srgbClr val="898989"/>
              </a:solidFill>
            </a:endParaRPr>
          </a:p>
        </p:txBody>
      </p:sp>
      <p:sp>
        <p:nvSpPr>
          <p:cNvPr id="4" name="TextBox 3">
            <a:extLst>
              <a:ext uri="{FF2B5EF4-FFF2-40B4-BE49-F238E27FC236}">
                <a16:creationId xmlns:a16="http://schemas.microsoft.com/office/drawing/2014/main" id="{81648DB3-F752-CCA8-428D-1C14A53607B9}"/>
              </a:ext>
            </a:extLst>
          </p:cNvPr>
          <p:cNvSpPr txBox="1"/>
          <p:nvPr/>
        </p:nvSpPr>
        <p:spPr>
          <a:xfrm>
            <a:off x="244928" y="335846"/>
            <a:ext cx="8430760" cy="5632311"/>
          </a:xfrm>
          <a:prstGeom prst="rect">
            <a:avLst/>
          </a:prstGeom>
          <a:noFill/>
        </p:spPr>
        <p:txBody>
          <a:bodyPr wrap="square">
            <a:spAutoFit/>
          </a:bodyPr>
          <a:lstStyle/>
          <a:p>
            <a:pPr>
              <a:buNone/>
            </a:pPr>
            <a:endParaRPr lang="en-US" dirty="0"/>
          </a:p>
          <a:p>
            <a:pPr>
              <a:buNone/>
            </a:pPr>
            <a:endParaRPr lang="en-US" dirty="0"/>
          </a:p>
          <a:p>
            <a:pPr>
              <a:buNone/>
            </a:pPr>
            <a:endParaRPr lang="en-US" dirty="0"/>
          </a:p>
          <a:p>
            <a:pPr>
              <a:buNone/>
            </a:pPr>
            <a:endParaRPr lang="en-US" dirty="0"/>
          </a:p>
          <a:p>
            <a:pPr algn="just">
              <a:buNone/>
            </a:pPr>
            <a:endParaRPr lang="en-US" dirty="0"/>
          </a:p>
          <a:p>
            <a:pPr algn="just">
              <a:buNone/>
            </a:pPr>
            <a:r>
              <a:rPr lang="en-US" dirty="0"/>
              <a:t>The Connect </a:t>
            </a:r>
            <a:r>
              <a:rPr lang="en-US" dirty="0" err="1"/>
              <a:t>srec</a:t>
            </a:r>
            <a:r>
              <a:rPr lang="en-US" dirty="0"/>
              <a:t> platform is technically feasible using modern web technologies and cloud services.</a:t>
            </a:r>
          </a:p>
          <a:p>
            <a:pPr algn="just">
              <a:buNone/>
            </a:pPr>
            <a:endParaRPr lang="en-US" dirty="0"/>
          </a:p>
          <a:p>
            <a:pPr algn="just">
              <a:buNone/>
            </a:pPr>
            <a:r>
              <a:rPr lang="en-US" dirty="0"/>
              <a:t>• The frontend is built using </a:t>
            </a:r>
            <a:r>
              <a:rPr lang="en-US" b="1" dirty="0"/>
              <a:t>HTML, CSS, and JavaScript</a:t>
            </a:r>
            <a:r>
              <a:rPr lang="en-US" dirty="0"/>
              <a:t>, ensuring a responsive and interactive user interface.</a:t>
            </a:r>
          </a:p>
          <a:p>
            <a:pPr algn="just">
              <a:buNone/>
            </a:pPr>
            <a:r>
              <a:rPr lang="en-US" dirty="0"/>
              <a:t>• The </a:t>
            </a:r>
            <a:r>
              <a:rPr lang="en-US" dirty="0" err="1"/>
              <a:t>backendisdevelopedusing</a:t>
            </a:r>
            <a:r>
              <a:rPr lang="en-US" b="1" dirty="0" err="1"/>
              <a:t>Python</a:t>
            </a:r>
            <a:r>
              <a:rPr lang="en-US" b="1" dirty="0"/>
              <a:t> </a:t>
            </a:r>
            <a:r>
              <a:rPr lang="en-US" b="1" dirty="0" err="1"/>
              <a:t>Flask</a:t>
            </a:r>
            <a:r>
              <a:rPr lang="en-US" dirty="0" err="1"/>
              <a:t>,enablingfast</a:t>
            </a:r>
            <a:r>
              <a:rPr lang="en-US" dirty="0"/>
              <a:t> API development and scalable architecture.</a:t>
            </a:r>
          </a:p>
          <a:p>
            <a:pPr algn="just">
              <a:buNone/>
            </a:pPr>
            <a:r>
              <a:rPr lang="en-US" dirty="0"/>
              <a:t>• </a:t>
            </a:r>
            <a:r>
              <a:rPr lang="en-US" b="1" dirty="0"/>
              <a:t>Firebase Authentication</a:t>
            </a:r>
            <a:r>
              <a:rPr lang="en-US" dirty="0"/>
              <a:t> ensures secure login and role-based access for students and administrators.</a:t>
            </a:r>
          </a:p>
          <a:p>
            <a:pPr algn="just">
              <a:buNone/>
            </a:pPr>
            <a:r>
              <a:rPr lang="en-US" dirty="0"/>
              <a:t>•</a:t>
            </a:r>
            <a:r>
              <a:rPr lang="en-US" b="1" dirty="0"/>
              <a:t>Firebase Realtime Database</a:t>
            </a:r>
            <a:r>
              <a:rPr lang="en-US" dirty="0"/>
              <a:t> is used for storing posts, comments, reactions, and user activity.</a:t>
            </a:r>
          </a:p>
          <a:p>
            <a:pPr algn="just">
              <a:buNone/>
            </a:pPr>
            <a:r>
              <a:rPr lang="en-US" dirty="0"/>
              <a:t>•</a:t>
            </a:r>
            <a:r>
              <a:rPr lang="en-US" b="1" dirty="0" err="1"/>
              <a:t>Supabase</a:t>
            </a:r>
            <a:r>
              <a:rPr lang="en-US" b="1" dirty="0"/>
              <a:t> Storage</a:t>
            </a:r>
            <a:r>
              <a:rPr lang="en-US" dirty="0"/>
              <a:t> is used for storing academic materials like PDFs in the Notes Hub.</a:t>
            </a:r>
            <a:br>
              <a:rPr lang="en-US" dirty="0"/>
            </a:br>
            <a:r>
              <a:rPr lang="en-US" dirty="0"/>
              <a:t>•</a:t>
            </a:r>
            <a:r>
              <a:rPr lang="en-US" b="1" dirty="0" err="1"/>
              <a:t>Cloudinary</a:t>
            </a:r>
            <a:r>
              <a:rPr lang="en-US" dirty="0"/>
              <a:t> is used for efficient image storage and media handling.</a:t>
            </a:r>
            <a:br>
              <a:rPr lang="en-US" dirty="0"/>
            </a:br>
            <a:r>
              <a:rPr lang="en-US" dirty="0"/>
              <a:t>•</a:t>
            </a:r>
            <a:r>
              <a:rPr lang="en-US" b="1" dirty="0" err="1"/>
              <a:t>Groq</a:t>
            </a:r>
            <a:r>
              <a:rPr lang="en-US" b="1" dirty="0"/>
              <a:t> API with </a:t>
            </a:r>
            <a:r>
              <a:rPr lang="en-US" b="1" dirty="0" err="1"/>
              <a:t>LLaMA</a:t>
            </a:r>
            <a:r>
              <a:rPr lang="en-US" b="1" dirty="0"/>
              <a:t> 3.3 70B model</a:t>
            </a:r>
            <a:r>
              <a:rPr lang="en-US" dirty="0"/>
              <a:t> powers AI features such as quiz generation, chatbot responses, and post enhancement.</a:t>
            </a:r>
          </a:p>
        </p:txBody>
      </p:sp>
    </p:spTree>
    <p:extLst>
      <p:ext uri="{BB962C8B-B14F-4D97-AF65-F5344CB8AC3E}">
        <p14:creationId xmlns:p14="http://schemas.microsoft.com/office/powerpoint/2010/main" val="96201369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642938" y="214313"/>
            <a:ext cx="7515225" cy="1214437"/>
          </a:xfrm>
        </p:spPr>
        <p:txBody>
          <a:bodyPr/>
          <a:lstStyle/>
          <a:p>
            <a:r>
              <a:rPr lang="en-US" sz="2800" dirty="0">
                <a:latin typeface="Arial" panose="020B0604020202020204" pitchFamily="34" charset="0"/>
                <a:cs typeface="Arial" panose="020B0604020202020204" pitchFamily="34" charset="0"/>
              </a:rPr>
              <a:t>Design &amp; Experimentation</a:t>
            </a:r>
            <a:endParaRPr lang="en-US" sz="2800" b="1" dirty="0">
              <a:solidFill>
                <a:srgbClr val="7030A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395288" y="1500188"/>
            <a:ext cx="8280400" cy="3008312"/>
          </a:xfrm>
        </p:spPr>
        <p:txBody>
          <a:bodyPr rtlCol="0">
            <a:normAutofit/>
          </a:bodyPr>
          <a:lstStyle/>
          <a:p>
            <a:pPr marL="0" indent="0" algn="just" eaLnBrk="1" fontAlgn="auto" hangingPunct="1">
              <a:spcAft>
                <a:spcPts val="0"/>
              </a:spcAft>
              <a:buFont typeface="Arial" panose="020B0604020202020204" pitchFamily="34" charset="0"/>
              <a:buNone/>
              <a:defRPr/>
            </a:pPr>
            <a:endParaRPr lang="en-IN" sz="5300" dirty="0">
              <a:latin typeface="Arial" pitchFamily="34" charset="0"/>
              <a:cs typeface="Arial" pitchFamily="34" charset="0"/>
            </a:endParaRPr>
          </a:p>
          <a:p>
            <a:pPr eaLnBrk="1" fontAlgn="auto" hangingPunct="1">
              <a:spcAft>
                <a:spcPts val="0"/>
              </a:spcAft>
              <a:defRPr/>
            </a:pPr>
            <a:endParaRPr lang="en-IN" dirty="0"/>
          </a:p>
        </p:txBody>
      </p:sp>
      <p:sp>
        <p:nvSpPr>
          <p:cNvPr id="1434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E51C282-E751-46B4-A11D-51DF6B800694}" type="slidenum">
              <a:rPr lang="en-IN" sz="1200" smtClean="0">
                <a:solidFill>
                  <a:srgbClr val="898989"/>
                </a:solidFill>
              </a:rPr>
              <a:pPr>
                <a:spcBef>
                  <a:spcPct val="0"/>
                </a:spcBef>
                <a:buFontTx/>
                <a:buNone/>
              </a:pPr>
              <a:t>15</a:t>
            </a:fld>
            <a:endParaRPr lang="en-IN" sz="1200">
              <a:solidFill>
                <a:srgbClr val="898989"/>
              </a:solidFill>
            </a:endParaRPr>
          </a:p>
        </p:txBody>
      </p:sp>
      <p:sp>
        <p:nvSpPr>
          <p:cNvPr id="4" name="TextBox 3">
            <a:extLst>
              <a:ext uri="{FF2B5EF4-FFF2-40B4-BE49-F238E27FC236}">
                <a16:creationId xmlns:a16="http://schemas.microsoft.com/office/drawing/2014/main" id="{5FCB2059-3751-5C94-6B7C-C5DF4D3D0438}"/>
              </a:ext>
            </a:extLst>
          </p:cNvPr>
          <p:cNvSpPr txBox="1"/>
          <p:nvPr/>
        </p:nvSpPr>
        <p:spPr>
          <a:xfrm>
            <a:off x="468312" y="1825793"/>
            <a:ext cx="7923546" cy="3785652"/>
          </a:xfrm>
          <a:prstGeom prst="rect">
            <a:avLst/>
          </a:prstGeom>
          <a:noFill/>
        </p:spPr>
        <p:txBody>
          <a:bodyPr wrap="square">
            <a:spAutoFit/>
          </a:bodyPr>
          <a:lstStyle/>
          <a:p>
            <a:pPr marL="342900" indent="-342900" algn="just">
              <a:buFont typeface="Arial" panose="020B0604020202020204" pitchFamily="34" charset="0"/>
              <a:buChar char="•"/>
            </a:pPr>
            <a:r>
              <a:rPr lang="en-IN" sz="2400" dirty="0">
                <a:latin typeface="+mn-lt"/>
              </a:rPr>
              <a:t>Designed a modular Flask + Firebase architecture for secure authentication, real-time posts, and role management.</a:t>
            </a:r>
          </a:p>
          <a:p>
            <a:pPr marL="342900" indent="-342900" algn="just">
              <a:buFont typeface="Arial" panose="020B0604020202020204" pitchFamily="34" charset="0"/>
              <a:buChar char="•"/>
            </a:pPr>
            <a:r>
              <a:rPr lang="en-IN" sz="2400" dirty="0">
                <a:latin typeface="+mn-lt"/>
              </a:rPr>
              <a:t>Developed and tested a Facebook-style dashboard with posting, likes, comments, and delete features.</a:t>
            </a:r>
          </a:p>
          <a:p>
            <a:pPr marL="342900" indent="-342900" algn="just">
              <a:buFont typeface="Arial" panose="020B0604020202020204" pitchFamily="34" charset="0"/>
              <a:buChar char="•"/>
            </a:pPr>
            <a:r>
              <a:rPr lang="en-IN" sz="2400" dirty="0">
                <a:latin typeface="+mn-lt"/>
              </a:rPr>
              <a:t>Integrated and refined an AI chatbot (SREC Bot) with a modern, responsive UI.</a:t>
            </a:r>
          </a:p>
          <a:p>
            <a:pPr marL="342900" indent="-342900" algn="just">
              <a:buFont typeface="Arial" panose="020B0604020202020204" pitchFamily="34" charset="0"/>
              <a:buChar char="•"/>
            </a:pPr>
            <a:r>
              <a:rPr lang="en-IN" sz="2400" dirty="0">
                <a:latin typeface="+mn-lt"/>
              </a:rPr>
              <a:t>Added user profile, notifications/events, and admin controls.</a:t>
            </a:r>
          </a:p>
          <a:p>
            <a:pPr marL="342900" indent="-342900" algn="just">
              <a:buFont typeface="Arial" panose="020B0604020202020204" pitchFamily="34" charset="0"/>
              <a:buChar char="•"/>
            </a:pPr>
            <a:r>
              <a:rPr lang="en-IN" sz="2400" dirty="0">
                <a:latin typeface="+mn-lt"/>
              </a:rPr>
              <a:t>Iteratively improved UI/UX and security based on panel feedback and testing.</a:t>
            </a:r>
          </a:p>
        </p:txBody>
      </p:sp>
    </p:spTree>
    <p:extLst>
      <p:ext uri="{BB962C8B-B14F-4D97-AF65-F5344CB8AC3E}">
        <p14:creationId xmlns:p14="http://schemas.microsoft.com/office/powerpoint/2010/main" val="29152005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642938" y="214313"/>
            <a:ext cx="7515225" cy="1214437"/>
          </a:xfrm>
        </p:spPr>
        <p:txBody>
          <a:bodyPr/>
          <a:lstStyle/>
          <a:p>
            <a:r>
              <a:rPr lang="en-US" sz="2800" dirty="0">
                <a:latin typeface="Arial" panose="020B0604020202020204" pitchFamily="34" charset="0"/>
                <a:cs typeface="Arial" panose="020B0604020202020204" pitchFamily="34" charset="0"/>
              </a:rPr>
              <a:t>Design &amp; Experimentation</a:t>
            </a:r>
            <a:endParaRPr lang="en-US" sz="2800" b="1" dirty="0">
              <a:solidFill>
                <a:srgbClr val="7030A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395288" y="1500188"/>
            <a:ext cx="8280400" cy="3008312"/>
          </a:xfrm>
        </p:spPr>
        <p:txBody>
          <a:bodyPr rtlCol="0">
            <a:normAutofit/>
          </a:bodyPr>
          <a:lstStyle/>
          <a:p>
            <a:pPr marL="0" indent="0" algn="just" eaLnBrk="1" fontAlgn="auto" hangingPunct="1">
              <a:spcAft>
                <a:spcPts val="0"/>
              </a:spcAft>
              <a:buFont typeface="Arial" panose="020B0604020202020204" pitchFamily="34" charset="0"/>
              <a:buNone/>
              <a:defRPr/>
            </a:pPr>
            <a:endParaRPr lang="en-IN" sz="5300" dirty="0">
              <a:latin typeface="Arial" pitchFamily="34" charset="0"/>
              <a:cs typeface="Arial" pitchFamily="34" charset="0"/>
            </a:endParaRPr>
          </a:p>
          <a:p>
            <a:pPr eaLnBrk="1" fontAlgn="auto" hangingPunct="1">
              <a:spcAft>
                <a:spcPts val="0"/>
              </a:spcAft>
              <a:defRPr/>
            </a:pPr>
            <a:endParaRPr lang="en-IN" dirty="0"/>
          </a:p>
        </p:txBody>
      </p:sp>
      <p:sp>
        <p:nvSpPr>
          <p:cNvPr id="1434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E51C282-E751-46B4-A11D-51DF6B800694}" type="slidenum">
              <a:rPr lang="en-IN" sz="1200" smtClean="0">
                <a:solidFill>
                  <a:srgbClr val="898989"/>
                </a:solidFill>
              </a:rPr>
              <a:pPr>
                <a:spcBef>
                  <a:spcPct val="0"/>
                </a:spcBef>
                <a:buFontTx/>
                <a:buNone/>
              </a:pPr>
              <a:t>16</a:t>
            </a:fld>
            <a:endParaRPr lang="en-IN" sz="1200">
              <a:solidFill>
                <a:srgbClr val="898989"/>
              </a:solidFill>
            </a:endParaRPr>
          </a:p>
        </p:txBody>
      </p:sp>
      <p:sp>
        <p:nvSpPr>
          <p:cNvPr id="4" name="TextBox 3">
            <a:extLst>
              <a:ext uri="{FF2B5EF4-FFF2-40B4-BE49-F238E27FC236}">
                <a16:creationId xmlns:a16="http://schemas.microsoft.com/office/drawing/2014/main" id="{0757B615-8C23-6A89-7AD7-4AD8F1B86832}"/>
              </a:ext>
            </a:extLst>
          </p:cNvPr>
          <p:cNvSpPr txBox="1"/>
          <p:nvPr/>
        </p:nvSpPr>
        <p:spPr>
          <a:xfrm>
            <a:off x="513557" y="1428750"/>
            <a:ext cx="7987506" cy="4339650"/>
          </a:xfrm>
          <a:prstGeom prst="rect">
            <a:avLst/>
          </a:prstGeom>
          <a:noFill/>
        </p:spPr>
        <p:txBody>
          <a:bodyPr wrap="square">
            <a:spAutoFit/>
          </a:bodyPr>
          <a:lstStyle/>
          <a:p>
            <a:pPr algn="just">
              <a:buNone/>
            </a:pPr>
            <a:r>
              <a:rPr lang="en-US" sz="2300" dirty="0"/>
              <a:t>• Implemented the </a:t>
            </a:r>
            <a:r>
              <a:rPr lang="en-US" sz="2300" b="1" dirty="0"/>
              <a:t>Notes Hub module</a:t>
            </a:r>
            <a:r>
              <a:rPr lang="en-US" sz="2300" dirty="0"/>
              <a:t> to allow students to upload, preview, download, and rate academic PDF notes organized by subject and semester.</a:t>
            </a:r>
          </a:p>
          <a:p>
            <a:pPr algn="just">
              <a:buNone/>
            </a:pPr>
            <a:r>
              <a:rPr lang="en-US" sz="2300" dirty="0"/>
              <a:t>• Developed an </a:t>
            </a:r>
            <a:r>
              <a:rPr lang="en-US" sz="2300" b="1" dirty="0"/>
              <a:t>AI Quiz Engine</a:t>
            </a:r>
            <a:r>
              <a:rPr lang="en-US" sz="2300" dirty="0"/>
              <a:t> that automatically generates multiple-choice questions from any topic using AI models.</a:t>
            </a:r>
          </a:p>
          <a:p>
            <a:pPr algn="just">
              <a:buNone/>
            </a:pPr>
            <a:r>
              <a:rPr lang="en-US" sz="2300" dirty="0"/>
              <a:t>• Designed a </a:t>
            </a:r>
            <a:r>
              <a:rPr lang="en-US" sz="2300" b="1" dirty="0"/>
              <a:t>Study Room feature</a:t>
            </a:r>
            <a:r>
              <a:rPr lang="en-US" sz="2300" dirty="0"/>
              <a:t> that tracks real-time study sessions and displays active students to encourage peer learning.</a:t>
            </a:r>
          </a:p>
          <a:p>
            <a:pPr algn="just">
              <a:buNone/>
            </a:pPr>
            <a:r>
              <a:rPr lang="en-US" sz="2300" dirty="0"/>
              <a:t>• Built an </a:t>
            </a:r>
            <a:r>
              <a:rPr lang="en-US" sz="2300" b="1" dirty="0"/>
              <a:t>event and notification management system</a:t>
            </a:r>
            <a:r>
              <a:rPr lang="en-US" sz="2300" dirty="0"/>
              <a:t> where admins can publish campus events with live countdown timers.</a:t>
            </a:r>
          </a:p>
          <a:p>
            <a:pPr algn="just">
              <a:buNone/>
            </a:pPr>
            <a:r>
              <a:rPr lang="en-US" sz="2300" dirty="0"/>
              <a:t>• Conducted </a:t>
            </a:r>
            <a:r>
              <a:rPr lang="en-US" sz="2300" b="1" dirty="0"/>
              <a:t>system testing and performance validation</a:t>
            </a:r>
            <a:r>
              <a:rPr lang="en-US" sz="2300" dirty="0"/>
              <a:t> to ensure smooth functionality across different devices and browsers.</a:t>
            </a:r>
          </a:p>
        </p:txBody>
      </p:sp>
    </p:spTree>
    <p:extLst>
      <p:ext uri="{BB962C8B-B14F-4D97-AF65-F5344CB8AC3E}">
        <p14:creationId xmlns:p14="http://schemas.microsoft.com/office/powerpoint/2010/main" val="26326639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642938" y="214313"/>
            <a:ext cx="7515225" cy="1214437"/>
          </a:xfrm>
        </p:spPr>
        <p:txBody>
          <a:bodyPr/>
          <a:lstStyle/>
          <a:p>
            <a:r>
              <a:rPr lang="en-US" sz="2800" dirty="0">
                <a:latin typeface="Arial" panose="020B0604020202020204" pitchFamily="34" charset="0"/>
                <a:cs typeface="Arial" panose="020B0604020202020204" pitchFamily="34" charset="0"/>
              </a:rPr>
              <a:t>Results</a:t>
            </a:r>
            <a:endParaRPr lang="en-US" sz="2800" b="1" dirty="0">
              <a:solidFill>
                <a:srgbClr val="7030A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395288" y="1500188"/>
            <a:ext cx="8280400" cy="3008312"/>
          </a:xfrm>
        </p:spPr>
        <p:txBody>
          <a:bodyPr rtlCol="0">
            <a:normAutofit/>
          </a:bodyPr>
          <a:lstStyle/>
          <a:p>
            <a:pPr marL="0" indent="0" algn="just" eaLnBrk="1" fontAlgn="auto" hangingPunct="1">
              <a:spcAft>
                <a:spcPts val="0"/>
              </a:spcAft>
              <a:buFont typeface="Arial" panose="020B0604020202020204" pitchFamily="34" charset="0"/>
              <a:buNone/>
              <a:defRPr/>
            </a:pPr>
            <a:endParaRPr lang="en-IN" sz="5300" dirty="0">
              <a:latin typeface="Arial" pitchFamily="34" charset="0"/>
              <a:cs typeface="Arial" pitchFamily="34" charset="0"/>
            </a:endParaRPr>
          </a:p>
          <a:p>
            <a:pPr eaLnBrk="1" fontAlgn="auto" hangingPunct="1">
              <a:spcAft>
                <a:spcPts val="0"/>
              </a:spcAft>
              <a:defRPr/>
            </a:pPr>
            <a:endParaRPr lang="en-IN" dirty="0"/>
          </a:p>
        </p:txBody>
      </p:sp>
      <p:sp>
        <p:nvSpPr>
          <p:cNvPr id="1434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E51C282-E751-46B4-A11D-51DF6B800694}" type="slidenum">
              <a:rPr lang="en-IN" sz="1200" smtClean="0">
                <a:solidFill>
                  <a:srgbClr val="898989"/>
                </a:solidFill>
              </a:rPr>
              <a:pPr>
                <a:spcBef>
                  <a:spcPct val="0"/>
                </a:spcBef>
                <a:buFontTx/>
                <a:buNone/>
              </a:pPr>
              <a:t>17</a:t>
            </a:fld>
            <a:endParaRPr lang="en-IN" sz="1200">
              <a:solidFill>
                <a:srgbClr val="898989"/>
              </a:solidFill>
            </a:endParaRPr>
          </a:p>
        </p:txBody>
      </p:sp>
      <p:sp>
        <p:nvSpPr>
          <p:cNvPr id="6" name="TextBox 5">
            <a:extLst>
              <a:ext uri="{FF2B5EF4-FFF2-40B4-BE49-F238E27FC236}">
                <a16:creationId xmlns:a16="http://schemas.microsoft.com/office/drawing/2014/main" id="{7435B362-35A3-8FF8-DA9C-02239E054A0F}"/>
              </a:ext>
            </a:extLst>
          </p:cNvPr>
          <p:cNvSpPr txBox="1"/>
          <p:nvPr/>
        </p:nvSpPr>
        <p:spPr>
          <a:xfrm>
            <a:off x="642938" y="1500188"/>
            <a:ext cx="7515225" cy="4339650"/>
          </a:xfrm>
          <a:prstGeom prst="rect">
            <a:avLst/>
          </a:prstGeom>
          <a:noFill/>
        </p:spPr>
        <p:txBody>
          <a:bodyPr wrap="square">
            <a:spAutoFit/>
          </a:bodyPr>
          <a:lstStyle/>
          <a:p>
            <a:pPr>
              <a:buNone/>
            </a:pPr>
            <a:r>
              <a:rPr lang="en-US" sz="2300" dirty="0"/>
              <a:t>• Successfully developed and deployed the </a:t>
            </a:r>
            <a:r>
              <a:rPr lang="en-US" sz="2300" b="1" dirty="0" err="1"/>
              <a:t>Connectsrec</a:t>
            </a:r>
            <a:r>
              <a:rPr lang="en-US" sz="2300" b="1" dirty="0"/>
              <a:t> web platform</a:t>
            </a:r>
            <a:r>
              <a:rPr lang="en-US" sz="2300" dirty="0"/>
              <a:t> for SREC students.</a:t>
            </a:r>
          </a:p>
          <a:p>
            <a:pPr>
              <a:buNone/>
            </a:pPr>
            <a:r>
              <a:rPr lang="en-US" sz="2300" dirty="0"/>
              <a:t>• Implemented a </a:t>
            </a:r>
            <a:r>
              <a:rPr lang="en-US" sz="2300" b="1" dirty="0"/>
              <a:t>social networking system</a:t>
            </a:r>
            <a:r>
              <a:rPr lang="en-US" sz="2300" dirty="0"/>
              <a:t> where students can create posts, like, comment, and interact within the campus community.</a:t>
            </a:r>
          </a:p>
          <a:p>
            <a:pPr>
              <a:buNone/>
            </a:pPr>
            <a:r>
              <a:rPr lang="en-US" sz="2300" dirty="0"/>
              <a:t>• The </a:t>
            </a:r>
            <a:r>
              <a:rPr lang="en-US" sz="2300" b="1" dirty="0"/>
              <a:t>Notes Hub</a:t>
            </a:r>
            <a:r>
              <a:rPr lang="en-US" sz="2300" dirty="0"/>
              <a:t> enables students to upload, preview, download, and rate academic PDF materials for different subjects.</a:t>
            </a:r>
          </a:p>
          <a:p>
            <a:pPr>
              <a:buNone/>
            </a:pPr>
            <a:r>
              <a:rPr lang="en-US" sz="2300" dirty="0"/>
              <a:t>• The </a:t>
            </a:r>
            <a:r>
              <a:rPr lang="en-US" sz="2300" b="1" dirty="0"/>
              <a:t>AI Quiz Engine</a:t>
            </a:r>
            <a:r>
              <a:rPr lang="en-US" sz="2300" dirty="0"/>
              <a:t> generates multiple-choice questions automatically based on user-selected topics.</a:t>
            </a:r>
          </a:p>
          <a:p>
            <a:pPr>
              <a:buNone/>
            </a:pPr>
            <a:r>
              <a:rPr lang="en-US" sz="2300" dirty="0"/>
              <a:t>• The system provides a </a:t>
            </a:r>
            <a:r>
              <a:rPr lang="en-US" sz="2300" b="1" dirty="0"/>
              <a:t>user-friendly and responsive interface</a:t>
            </a:r>
            <a:r>
              <a:rPr lang="en-US" sz="2300" dirty="0"/>
              <a:t>, allowing easy access from different devices.</a:t>
            </a:r>
          </a:p>
        </p:txBody>
      </p:sp>
    </p:spTree>
    <p:extLst>
      <p:ext uri="{BB962C8B-B14F-4D97-AF65-F5344CB8AC3E}">
        <p14:creationId xmlns:p14="http://schemas.microsoft.com/office/powerpoint/2010/main" val="5064901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642938" y="214313"/>
            <a:ext cx="7515225" cy="1214437"/>
          </a:xfrm>
        </p:spPr>
        <p:txBody>
          <a:bodyPr/>
          <a:lstStyle/>
          <a:p>
            <a:r>
              <a:rPr lang="en-US" sz="2800" b="1" dirty="0">
                <a:solidFill>
                  <a:srgbClr val="7030A0"/>
                </a:solidFill>
                <a:latin typeface="Arial" panose="020B0604020202020204" pitchFamily="34" charset="0"/>
                <a:cs typeface="Arial" panose="020B0604020202020204" pitchFamily="34" charset="0"/>
              </a:rPr>
              <a:t>Results</a:t>
            </a:r>
          </a:p>
        </p:txBody>
      </p:sp>
      <p:sp>
        <p:nvSpPr>
          <p:cNvPr id="3" name="Content Placeholder 2"/>
          <p:cNvSpPr>
            <a:spLocks noGrp="1"/>
          </p:cNvSpPr>
          <p:nvPr>
            <p:ph idx="1"/>
          </p:nvPr>
        </p:nvSpPr>
        <p:spPr>
          <a:xfrm>
            <a:off x="395288" y="1500188"/>
            <a:ext cx="8280400" cy="3008312"/>
          </a:xfrm>
        </p:spPr>
        <p:txBody>
          <a:bodyPr rtlCol="0">
            <a:normAutofit/>
          </a:bodyPr>
          <a:lstStyle/>
          <a:p>
            <a:pPr marL="0" indent="0" algn="just" eaLnBrk="1" fontAlgn="auto" hangingPunct="1">
              <a:spcAft>
                <a:spcPts val="0"/>
              </a:spcAft>
              <a:buFont typeface="Arial" panose="020B0604020202020204" pitchFamily="34" charset="0"/>
              <a:buNone/>
              <a:defRPr/>
            </a:pPr>
            <a:endParaRPr lang="en-IN" sz="5300" dirty="0">
              <a:latin typeface="Arial" pitchFamily="34" charset="0"/>
              <a:cs typeface="Arial" pitchFamily="34" charset="0"/>
            </a:endParaRPr>
          </a:p>
          <a:p>
            <a:pPr eaLnBrk="1" fontAlgn="auto" hangingPunct="1">
              <a:spcAft>
                <a:spcPts val="0"/>
              </a:spcAft>
              <a:defRPr/>
            </a:pPr>
            <a:endParaRPr lang="en-IN" dirty="0"/>
          </a:p>
        </p:txBody>
      </p:sp>
      <p:sp>
        <p:nvSpPr>
          <p:cNvPr id="1434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E51C282-E751-46B4-A11D-51DF6B800694}" type="slidenum">
              <a:rPr lang="en-IN" sz="1200" smtClean="0">
                <a:solidFill>
                  <a:srgbClr val="898989"/>
                </a:solidFill>
              </a:rPr>
              <a:pPr>
                <a:spcBef>
                  <a:spcPct val="0"/>
                </a:spcBef>
                <a:buFontTx/>
                <a:buNone/>
              </a:pPr>
              <a:t>18</a:t>
            </a:fld>
            <a:endParaRPr lang="en-IN" sz="1200">
              <a:solidFill>
                <a:srgbClr val="898989"/>
              </a:solidFill>
            </a:endParaRPr>
          </a:p>
        </p:txBody>
      </p:sp>
      <p:sp>
        <p:nvSpPr>
          <p:cNvPr id="4" name="TextBox 3">
            <a:extLst>
              <a:ext uri="{FF2B5EF4-FFF2-40B4-BE49-F238E27FC236}">
                <a16:creationId xmlns:a16="http://schemas.microsoft.com/office/drawing/2014/main" id="{468EB2D4-980E-39D0-DB97-7E5EED25DDA7}"/>
              </a:ext>
            </a:extLst>
          </p:cNvPr>
          <p:cNvSpPr txBox="1"/>
          <p:nvPr/>
        </p:nvSpPr>
        <p:spPr>
          <a:xfrm>
            <a:off x="729570" y="1500188"/>
            <a:ext cx="7341960" cy="4339650"/>
          </a:xfrm>
          <a:prstGeom prst="rect">
            <a:avLst/>
          </a:prstGeom>
          <a:noFill/>
        </p:spPr>
        <p:txBody>
          <a:bodyPr wrap="square">
            <a:spAutoFit/>
          </a:bodyPr>
          <a:lstStyle/>
          <a:p>
            <a:pPr algn="just">
              <a:buNone/>
            </a:pPr>
            <a:r>
              <a:rPr lang="en-US" sz="2300" dirty="0"/>
              <a:t>• The </a:t>
            </a:r>
            <a:r>
              <a:rPr lang="en-US" sz="2300" b="1" dirty="0"/>
              <a:t>SREC AI Chatbot</a:t>
            </a:r>
            <a:r>
              <a:rPr lang="en-US" sz="2300" dirty="0"/>
              <a:t> successfully answers campus-related queries and assists students with academic information.</a:t>
            </a:r>
          </a:p>
          <a:p>
            <a:pPr algn="just">
              <a:buNone/>
            </a:pPr>
            <a:r>
              <a:rPr lang="en-US" sz="2300" dirty="0"/>
              <a:t>• Implemented </a:t>
            </a:r>
            <a:r>
              <a:rPr lang="en-US" sz="2300" b="1" dirty="0"/>
              <a:t>real-time features</a:t>
            </a:r>
            <a:r>
              <a:rPr lang="en-US" sz="2300" dirty="0"/>
              <a:t> such as live reactions, comments, and notifications using Firebase.</a:t>
            </a:r>
          </a:p>
          <a:p>
            <a:pPr algn="just">
              <a:buNone/>
            </a:pPr>
            <a:r>
              <a:rPr lang="en-US" sz="2300" dirty="0"/>
              <a:t>• The platform improves </a:t>
            </a:r>
            <a:r>
              <a:rPr lang="en-US" sz="2300" b="1" dirty="0"/>
              <a:t>student engagement and collaboration</a:t>
            </a:r>
            <a:r>
              <a:rPr lang="en-US" sz="2300" dirty="0"/>
              <a:t> through social interaction and shared learning resources.</a:t>
            </a:r>
          </a:p>
          <a:p>
            <a:pPr algn="just">
              <a:buNone/>
            </a:pPr>
            <a:r>
              <a:rPr lang="en-US" sz="2300" dirty="0"/>
              <a:t>• The system has been </a:t>
            </a:r>
            <a:r>
              <a:rPr lang="en-US" sz="2300" b="1" dirty="0"/>
              <a:t>tested for functionality, usability, and performance</a:t>
            </a:r>
            <a:r>
              <a:rPr lang="en-US" sz="2300" dirty="0"/>
              <a:t>, ensuring reliable operation.</a:t>
            </a:r>
          </a:p>
          <a:p>
            <a:pPr algn="just">
              <a:buNone/>
            </a:pPr>
            <a:r>
              <a:rPr lang="en-US" sz="2300" dirty="0"/>
              <a:t>• The project demonstrates the effective integration of </a:t>
            </a:r>
            <a:r>
              <a:rPr lang="en-US" sz="2300" b="1" dirty="0"/>
              <a:t>AI, cloud technologies, and full-stack web development</a:t>
            </a:r>
            <a:r>
              <a:rPr lang="en-US" sz="2300" dirty="0"/>
              <a:t> in an educational platform.</a:t>
            </a:r>
          </a:p>
        </p:txBody>
      </p:sp>
    </p:spTree>
    <p:extLst>
      <p:ext uri="{BB962C8B-B14F-4D97-AF65-F5344CB8AC3E}">
        <p14:creationId xmlns:p14="http://schemas.microsoft.com/office/powerpoint/2010/main" val="14728835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642938" y="214313"/>
            <a:ext cx="7515225" cy="1214437"/>
          </a:xfrm>
        </p:spPr>
        <p:txBody>
          <a:bodyPr/>
          <a:lstStyle/>
          <a:p>
            <a:r>
              <a:rPr lang="en-US" sz="2800" dirty="0">
                <a:latin typeface="Arial" panose="020B0604020202020204" pitchFamily="34" charset="0"/>
                <a:cs typeface="Arial" panose="020B0604020202020204" pitchFamily="34" charset="0"/>
              </a:rPr>
              <a:t>Results</a:t>
            </a:r>
            <a:endParaRPr lang="en-US" sz="2800" b="1" dirty="0">
              <a:solidFill>
                <a:srgbClr val="7030A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395288" y="1500188"/>
            <a:ext cx="8280400" cy="3008312"/>
          </a:xfrm>
        </p:spPr>
        <p:txBody>
          <a:bodyPr rtlCol="0">
            <a:normAutofit/>
          </a:bodyPr>
          <a:lstStyle/>
          <a:p>
            <a:pPr marL="0" indent="0" algn="just" eaLnBrk="1" fontAlgn="auto" hangingPunct="1">
              <a:spcAft>
                <a:spcPts val="0"/>
              </a:spcAft>
              <a:buFont typeface="Arial" panose="020B0604020202020204" pitchFamily="34" charset="0"/>
              <a:buNone/>
              <a:defRPr/>
            </a:pPr>
            <a:endParaRPr lang="en-IN" sz="5300" dirty="0">
              <a:latin typeface="Arial" pitchFamily="34" charset="0"/>
              <a:cs typeface="Arial" pitchFamily="34" charset="0"/>
            </a:endParaRPr>
          </a:p>
          <a:p>
            <a:pPr eaLnBrk="1" fontAlgn="auto" hangingPunct="1">
              <a:spcAft>
                <a:spcPts val="0"/>
              </a:spcAft>
              <a:defRPr/>
            </a:pPr>
            <a:endParaRPr lang="en-IN" dirty="0"/>
          </a:p>
        </p:txBody>
      </p:sp>
      <p:sp>
        <p:nvSpPr>
          <p:cNvPr id="1434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E51C282-E751-46B4-A11D-51DF6B800694}" type="slidenum">
              <a:rPr lang="en-IN" sz="1200" smtClean="0">
                <a:solidFill>
                  <a:srgbClr val="898989"/>
                </a:solidFill>
              </a:rPr>
              <a:pPr>
                <a:spcBef>
                  <a:spcPct val="0"/>
                </a:spcBef>
                <a:buFontTx/>
                <a:buNone/>
              </a:pPr>
              <a:t>19</a:t>
            </a:fld>
            <a:endParaRPr lang="en-IN" sz="1200">
              <a:solidFill>
                <a:srgbClr val="898989"/>
              </a:solidFill>
            </a:endParaRPr>
          </a:p>
        </p:txBody>
      </p:sp>
      <p:sp>
        <p:nvSpPr>
          <p:cNvPr id="4" name="TextBox 3">
            <a:extLst>
              <a:ext uri="{FF2B5EF4-FFF2-40B4-BE49-F238E27FC236}">
                <a16:creationId xmlns:a16="http://schemas.microsoft.com/office/drawing/2014/main" id="{73DB78C9-1ABE-4DC9-E393-7C16C0283BCD}"/>
              </a:ext>
            </a:extLst>
          </p:cNvPr>
          <p:cNvSpPr txBox="1"/>
          <p:nvPr/>
        </p:nvSpPr>
        <p:spPr>
          <a:xfrm>
            <a:off x="642938" y="1308814"/>
            <a:ext cx="7689851" cy="5047536"/>
          </a:xfrm>
          <a:prstGeom prst="rect">
            <a:avLst/>
          </a:prstGeom>
          <a:noFill/>
        </p:spPr>
        <p:txBody>
          <a:bodyPr wrap="square">
            <a:spAutoFit/>
          </a:bodyPr>
          <a:lstStyle/>
          <a:p>
            <a:pPr>
              <a:buNone/>
            </a:pPr>
            <a:r>
              <a:rPr lang="en-US" sz="2300" dirty="0"/>
              <a:t>• The platform was </a:t>
            </a:r>
            <a:r>
              <a:rPr lang="en-US" sz="2300" b="1" dirty="0"/>
              <a:t>successfully deployed on the cloud</a:t>
            </a:r>
            <a:r>
              <a:rPr lang="en-US" sz="2300" dirty="0"/>
              <a:t> and is accessible online at</a:t>
            </a:r>
            <a:br>
              <a:rPr lang="en-US" sz="2300" dirty="0"/>
            </a:br>
            <a:r>
              <a:rPr lang="en-US" sz="2300" b="1" dirty="0">
                <a:hlinkClick r:id="rId2"/>
              </a:rPr>
              <a:t>https://sreccampus.onrender.com/</a:t>
            </a:r>
            <a:r>
              <a:rPr lang="en-US" sz="2300" dirty="0"/>
              <a:t>.</a:t>
            </a:r>
          </a:p>
          <a:p>
            <a:pPr>
              <a:buNone/>
            </a:pPr>
            <a:r>
              <a:rPr lang="en-US" sz="2300" dirty="0"/>
              <a:t>• Implemented </a:t>
            </a:r>
            <a:r>
              <a:rPr lang="en-US" sz="2300" b="1" dirty="0"/>
              <a:t>secure authentication and role-based access</a:t>
            </a:r>
            <a:r>
              <a:rPr lang="en-US" sz="2300" dirty="0"/>
              <a:t> for students, faculty, and admin users.</a:t>
            </a:r>
          </a:p>
          <a:p>
            <a:pPr>
              <a:buNone/>
            </a:pPr>
            <a:r>
              <a:rPr lang="en-US" sz="2300" dirty="0"/>
              <a:t>• Integrated </a:t>
            </a:r>
            <a:r>
              <a:rPr lang="en-US" sz="2300" b="1" dirty="0"/>
              <a:t>AI-powered features</a:t>
            </a:r>
            <a:r>
              <a:rPr lang="en-US" sz="2300" dirty="0"/>
              <a:t> such as Post Enhancer, Sentiment Analysis, and AI Quiz Generation to improve the learning experience.</a:t>
            </a:r>
          </a:p>
          <a:p>
            <a:pPr>
              <a:buNone/>
            </a:pPr>
            <a:r>
              <a:rPr lang="en-US" sz="2300" dirty="0"/>
              <a:t>• The system demonstrates how </a:t>
            </a:r>
            <a:r>
              <a:rPr lang="en-US" sz="2300" b="1" dirty="0"/>
              <a:t>social networking, academic resources, and AI tools</a:t>
            </a:r>
            <a:r>
              <a:rPr lang="en-US" sz="2300" dirty="0"/>
              <a:t> can be combined into a single unified campus platform.</a:t>
            </a:r>
          </a:p>
          <a:p>
            <a:pPr>
              <a:buNone/>
            </a:pPr>
            <a:r>
              <a:rPr lang="en-US" sz="2300" dirty="0"/>
              <a:t>• The project proves the </a:t>
            </a:r>
            <a:r>
              <a:rPr lang="en-US" sz="2300" b="1" dirty="0"/>
              <a:t>technical feasibility and scalability</a:t>
            </a:r>
            <a:r>
              <a:rPr lang="en-US" sz="2300" dirty="0"/>
              <a:t> of building an AI-powered digital campus platform for educational institutions.</a:t>
            </a:r>
          </a:p>
        </p:txBody>
      </p:sp>
    </p:spTree>
    <p:extLst>
      <p:ext uri="{BB962C8B-B14F-4D97-AF65-F5344CB8AC3E}">
        <p14:creationId xmlns:p14="http://schemas.microsoft.com/office/powerpoint/2010/main" val="7125371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814387" y="136525"/>
            <a:ext cx="7515225" cy="1214437"/>
          </a:xfrm>
        </p:spPr>
        <p:txBody>
          <a:bodyPr/>
          <a:lstStyle/>
          <a:p>
            <a:r>
              <a:rPr lang="en-US" sz="2800" dirty="0">
                <a:latin typeface="Arial" panose="020B0604020202020204" pitchFamily="34" charset="0"/>
                <a:cs typeface="Arial" panose="020B0604020202020204" pitchFamily="34" charset="0"/>
              </a:rPr>
              <a:t>Project Outcome</a:t>
            </a:r>
            <a:endParaRPr lang="en-US" sz="2800" b="1" dirty="0">
              <a:solidFill>
                <a:srgbClr val="7030A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395288" y="1500188"/>
            <a:ext cx="8280400" cy="3008312"/>
          </a:xfrm>
        </p:spPr>
        <p:txBody>
          <a:bodyPr rtlCol="0">
            <a:normAutofit/>
          </a:bodyPr>
          <a:lstStyle/>
          <a:p>
            <a:pPr marL="0" indent="0" algn="just" eaLnBrk="1" fontAlgn="auto" hangingPunct="1">
              <a:spcAft>
                <a:spcPts val="0"/>
              </a:spcAft>
              <a:buFont typeface="Arial" panose="020B0604020202020204" pitchFamily="34" charset="0"/>
              <a:buNone/>
              <a:defRPr/>
            </a:pPr>
            <a:endParaRPr lang="en-IN" sz="5300" dirty="0">
              <a:latin typeface="Arial" pitchFamily="34" charset="0"/>
              <a:cs typeface="Arial" pitchFamily="34" charset="0"/>
            </a:endParaRPr>
          </a:p>
          <a:p>
            <a:pPr eaLnBrk="1" fontAlgn="auto" hangingPunct="1">
              <a:spcAft>
                <a:spcPts val="0"/>
              </a:spcAft>
              <a:defRPr/>
            </a:pPr>
            <a:endParaRPr lang="en-IN" dirty="0"/>
          </a:p>
        </p:txBody>
      </p:sp>
      <p:sp>
        <p:nvSpPr>
          <p:cNvPr id="1434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E51C282-E751-46B4-A11D-51DF6B800694}" type="slidenum">
              <a:rPr lang="en-IN" sz="1200" smtClean="0">
                <a:solidFill>
                  <a:srgbClr val="898989"/>
                </a:solidFill>
              </a:rPr>
              <a:pPr>
                <a:spcBef>
                  <a:spcPct val="0"/>
                </a:spcBef>
                <a:buFontTx/>
                <a:buNone/>
              </a:pPr>
              <a:t>20</a:t>
            </a:fld>
            <a:endParaRPr lang="en-IN" sz="1200">
              <a:solidFill>
                <a:srgbClr val="898989"/>
              </a:solidFill>
            </a:endParaRPr>
          </a:p>
        </p:txBody>
      </p:sp>
    </p:spTree>
    <p:extLst>
      <p:ext uri="{BB962C8B-B14F-4D97-AF65-F5344CB8AC3E}">
        <p14:creationId xmlns:p14="http://schemas.microsoft.com/office/powerpoint/2010/main" val="2948372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642938" y="214313"/>
            <a:ext cx="7515225" cy="1214437"/>
          </a:xfrm>
        </p:spPr>
        <p:txBody>
          <a:bodyPr/>
          <a:lstStyle/>
          <a:p>
            <a:r>
              <a:rPr lang="en-US" sz="2800" dirty="0">
                <a:latin typeface="Arial" panose="020B0604020202020204" pitchFamily="34" charset="0"/>
                <a:cs typeface="Arial" panose="020B0604020202020204" pitchFamily="34" charset="0"/>
              </a:rPr>
              <a:t>Outcomes (Patent, Paper, </a:t>
            </a:r>
            <a:r>
              <a:rPr lang="en-US" sz="2800" dirty="0" err="1">
                <a:latin typeface="Arial" panose="020B0604020202020204" pitchFamily="34" charset="0"/>
                <a:cs typeface="Arial" panose="020B0604020202020204" pitchFamily="34" charset="0"/>
              </a:rPr>
              <a:t>Hackatons</a:t>
            </a:r>
            <a:r>
              <a:rPr lang="en-US" sz="2800" dirty="0">
                <a:latin typeface="Arial" panose="020B0604020202020204" pitchFamily="34" charset="0"/>
                <a:cs typeface="Arial" panose="020B0604020202020204" pitchFamily="34" charset="0"/>
              </a:rPr>
              <a:t> etc.,) – applied / published / granted </a:t>
            </a:r>
            <a:endParaRPr lang="en-US" sz="2800" b="1" dirty="0">
              <a:solidFill>
                <a:srgbClr val="7030A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395288" y="1500188"/>
            <a:ext cx="8280400" cy="3008312"/>
          </a:xfrm>
        </p:spPr>
        <p:txBody>
          <a:bodyPr rtlCol="0">
            <a:normAutofit/>
          </a:bodyPr>
          <a:lstStyle/>
          <a:p>
            <a:pPr marL="0" indent="0" algn="just" eaLnBrk="1" fontAlgn="auto" hangingPunct="1">
              <a:spcAft>
                <a:spcPts val="0"/>
              </a:spcAft>
              <a:buFont typeface="Arial" panose="020B0604020202020204" pitchFamily="34" charset="0"/>
              <a:buNone/>
              <a:defRPr/>
            </a:pPr>
            <a:endParaRPr lang="en-IN" sz="5300" dirty="0">
              <a:latin typeface="Arial" pitchFamily="34" charset="0"/>
              <a:cs typeface="Arial" pitchFamily="34" charset="0"/>
            </a:endParaRPr>
          </a:p>
          <a:p>
            <a:pPr eaLnBrk="1" fontAlgn="auto" hangingPunct="1">
              <a:spcAft>
                <a:spcPts val="0"/>
              </a:spcAft>
              <a:defRPr/>
            </a:pPr>
            <a:endParaRPr lang="en-IN" dirty="0"/>
          </a:p>
        </p:txBody>
      </p:sp>
      <p:sp>
        <p:nvSpPr>
          <p:cNvPr id="1434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E51C282-E751-46B4-A11D-51DF6B800694}" type="slidenum">
              <a:rPr lang="en-IN" sz="1200" smtClean="0">
                <a:solidFill>
                  <a:srgbClr val="898989"/>
                </a:solidFill>
              </a:rPr>
              <a:pPr>
                <a:spcBef>
                  <a:spcPct val="0"/>
                </a:spcBef>
                <a:buFontTx/>
                <a:buNone/>
              </a:pPr>
              <a:t>21</a:t>
            </a:fld>
            <a:endParaRPr lang="en-IN" sz="1200">
              <a:solidFill>
                <a:srgbClr val="898989"/>
              </a:solidFill>
            </a:endParaRPr>
          </a:p>
        </p:txBody>
      </p:sp>
    </p:spTree>
    <p:extLst>
      <p:ext uri="{BB962C8B-B14F-4D97-AF65-F5344CB8AC3E}">
        <p14:creationId xmlns:p14="http://schemas.microsoft.com/office/powerpoint/2010/main" val="11797490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04552" y="217025"/>
            <a:ext cx="6777508" cy="639202"/>
          </a:xfrm>
        </p:spPr>
        <p:txBody>
          <a:bodyPr/>
          <a:lstStyle/>
          <a:p>
            <a:br>
              <a:rPr lang="en-IN" sz="2800" b="0" dirty="0">
                <a:solidFill>
                  <a:srgbClr val="660066"/>
                </a:solidFill>
                <a:latin typeface="Arial" panose="020B0604020202020204" pitchFamily="34" charset="0"/>
                <a:cs typeface="Arial" panose="020B0604020202020204" pitchFamily="34" charset="0"/>
              </a:rPr>
            </a:br>
            <a:r>
              <a:rPr lang="en-IN" sz="2800" b="0" dirty="0">
                <a:solidFill>
                  <a:srgbClr val="660066"/>
                </a:solidFill>
                <a:latin typeface="Arial" panose="020B0604020202020204" pitchFamily="34" charset="0"/>
                <a:cs typeface="Arial" panose="020B0604020202020204" pitchFamily="34" charset="0"/>
              </a:rPr>
              <a:t> </a:t>
            </a:r>
            <a:endParaRPr lang="en-IN" sz="2800" dirty="0">
              <a:solidFill>
                <a:srgbClr val="660066"/>
              </a:solidFill>
              <a:latin typeface="Arial" panose="020B0604020202020204" pitchFamily="34" charset="0"/>
              <a:cs typeface="Arial" panose="020B0604020202020204" pitchFamily="34" charset="0"/>
            </a:endParaRPr>
          </a:p>
        </p:txBody>
      </p:sp>
      <p:sp>
        <p:nvSpPr>
          <p:cNvPr id="3" name="Subtitle 2"/>
          <p:cNvSpPr>
            <a:spLocks noGrp="1"/>
          </p:cNvSpPr>
          <p:nvPr>
            <p:ph type="subTitle" idx="1"/>
          </p:nvPr>
        </p:nvSpPr>
        <p:spPr>
          <a:xfrm>
            <a:off x="362857" y="1318327"/>
            <a:ext cx="8536214" cy="4690587"/>
          </a:xfrm>
        </p:spPr>
        <p:txBody>
          <a:bodyPr>
            <a:noAutofit/>
          </a:bodyPr>
          <a:lstStyle/>
          <a:p>
            <a:pPr algn="just"/>
            <a:r>
              <a:rPr lang="en-US" sz="2000" dirty="0"/>
              <a:t>Our project </a:t>
            </a:r>
            <a:r>
              <a:rPr lang="en-US" sz="2000" b="1" dirty="0" err="1"/>
              <a:t>Connectsrec</a:t>
            </a:r>
            <a:r>
              <a:rPr lang="en-US" sz="2000" dirty="0"/>
              <a:t> supports the following </a:t>
            </a:r>
            <a:r>
              <a:rPr lang="en-US" sz="2000" b="1" dirty="0"/>
              <a:t>United Nations Sustainable Development Goals </a:t>
            </a:r>
          </a:p>
          <a:p>
            <a:pPr algn="just"/>
            <a:r>
              <a:rPr lang="en-US" sz="2000" b="1" dirty="0"/>
              <a:t>(SDGs):🎓SDG4–</a:t>
            </a:r>
            <a:r>
              <a:rPr lang="en-US" sz="2000" b="1" dirty="0" err="1"/>
              <a:t>QualityEducation</a:t>
            </a:r>
            <a:endParaRPr lang="en-US" sz="2000" b="1" dirty="0"/>
          </a:p>
          <a:p>
            <a:pPr algn="just"/>
            <a:br>
              <a:rPr lang="en-US" sz="2000" dirty="0"/>
            </a:br>
            <a:r>
              <a:rPr lang="en-US" sz="2000" dirty="0"/>
              <a:t>Provides students with AI-powered learning tools such as </a:t>
            </a:r>
            <a:r>
              <a:rPr lang="en-US" sz="2000" b="1" dirty="0"/>
              <a:t>Notes Hub, AI Quiz Engine, and Study Room</a:t>
            </a:r>
            <a:r>
              <a:rPr lang="en-US" sz="2000" dirty="0"/>
              <a:t>, improving access to study materials and exam preparation.</a:t>
            </a:r>
          </a:p>
          <a:p>
            <a:pPr algn="just"/>
            <a:r>
              <a:rPr lang="en-US" sz="2000" b="1" dirty="0"/>
              <a:t>⚙️SDG9–</a:t>
            </a:r>
            <a:r>
              <a:rPr lang="en-US" sz="2000" b="1" dirty="0" err="1"/>
              <a:t>Industry,Innovation&amp;Infrastructure</a:t>
            </a:r>
            <a:endParaRPr lang="en-US" sz="2000" b="1" dirty="0"/>
          </a:p>
          <a:p>
            <a:pPr algn="just"/>
            <a:br>
              <a:rPr lang="en-US" sz="2000" dirty="0"/>
            </a:br>
            <a:r>
              <a:rPr lang="en-US" sz="2000" dirty="0"/>
              <a:t>Implements modern technologies like </a:t>
            </a:r>
            <a:r>
              <a:rPr lang="en-US" sz="2000" b="1" dirty="0"/>
              <a:t>Flask, Firebase, Cloud Infrastructure, and AI models</a:t>
            </a:r>
            <a:r>
              <a:rPr lang="en-US" sz="2000" dirty="0"/>
              <a:t>, promoting innovation in digital education platforms.</a:t>
            </a:r>
            <a:endParaRPr lang="en-US" sz="2000" b="1" dirty="0"/>
          </a:p>
          <a:p>
            <a:pPr algn="just"/>
            <a:r>
              <a:rPr lang="en-US" sz="2000" b="1" dirty="0"/>
              <a:t>🤝SDG17–</a:t>
            </a:r>
            <a:r>
              <a:rPr lang="en-US" sz="2000" b="1" dirty="0" err="1"/>
              <a:t>PartnershipsfortheGoals</a:t>
            </a:r>
            <a:endParaRPr lang="en-US" sz="2000" b="1" dirty="0"/>
          </a:p>
          <a:p>
            <a:pPr algn="just"/>
            <a:br>
              <a:rPr lang="en-US" sz="2000" dirty="0"/>
            </a:br>
            <a:r>
              <a:rPr lang="en-US" sz="2000" dirty="0"/>
              <a:t>Encourages </a:t>
            </a:r>
            <a:r>
              <a:rPr lang="en-US" sz="2000" b="1" dirty="0"/>
              <a:t>collaboration and knowledge sharing</a:t>
            </a:r>
            <a:r>
              <a:rPr lang="en-US" sz="2000" dirty="0"/>
              <a:t> among students and faculty through notes sharing, social interaction, and campus community engagement.</a:t>
            </a:r>
          </a:p>
          <a:p>
            <a:pPr algn="just"/>
            <a:endParaRPr lang="en-IN" sz="2000" dirty="0">
              <a:solidFill>
                <a:srgbClr val="002060"/>
              </a:solidFill>
              <a:latin typeface="Arial" panose="020B0604020202020204" pitchFamily="34" charset="0"/>
              <a:cs typeface="Arial" panose="020B0604020202020204" pitchFamily="34" charset="0"/>
            </a:endParaRPr>
          </a:p>
        </p:txBody>
      </p:sp>
      <p:sp>
        <p:nvSpPr>
          <p:cNvPr id="4" name="Date Placeholder 3"/>
          <p:cNvSpPr>
            <a:spLocks noGrp="1"/>
          </p:cNvSpPr>
          <p:nvPr>
            <p:ph type="dt" sz="half" idx="10"/>
          </p:nvPr>
        </p:nvSpPr>
        <p:spPr/>
        <p:txBody>
          <a:bodyPr/>
          <a:lstStyle/>
          <a:p>
            <a:fld id="{803A8B13-2D84-4CF8-A4DE-AA9E303C3B51}" type="datetime1">
              <a:rPr lang="en-IN" smtClean="0"/>
              <a:pPr/>
              <a:t>13-03-2026</a:t>
            </a:fld>
            <a:endParaRPr lang="en-IN" dirty="0"/>
          </a:p>
        </p:txBody>
      </p:sp>
      <p:sp>
        <p:nvSpPr>
          <p:cNvPr id="5" name="Footer Placeholder 4"/>
          <p:cNvSpPr>
            <a:spLocks noGrp="1"/>
          </p:cNvSpPr>
          <p:nvPr>
            <p:ph type="ftr" sz="quarter" idx="11"/>
          </p:nvPr>
        </p:nvSpPr>
        <p:spPr/>
        <p:txBody>
          <a:bodyPr/>
          <a:lstStyle/>
          <a:p>
            <a:r>
              <a:rPr lang="en-US" b="1" dirty="0"/>
              <a:t>SREC-MECH</a:t>
            </a:r>
            <a:endParaRPr lang="en-IN" b="1" dirty="0"/>
          </a:p>
        </p:txBody>
      </p:sp>
      <p:sp>
        <p:nvSpPr>
          <p:cNvPr id="6" name="Slide Number Placeholder 5"/>
          <p:cNvSpPr>
            <a:spLocks noGrp="1"/>
          </p:cNvSpPr>
          <p:nvPr>
            <p:ph type="sldNum" sz="quarter" idx="12"/>
          </p:nvPr>
        </p:nvSpPr>
        <p:spPr/>
        <p:txBody>
          <a:bodyPr/>
          <a:lstStyle/>
          <a:p>
            <a:r>
              <a:rPr lang="en-US" dirty="0"/>
              <a:t>3</a:t>
            </a:r>
            <a:endParaRPr lang="en-IN" dirty="0"/>
          </a:p>
        </p:txBody>
      </p:sp>
      <p:sp>
        <p:nvSpPr>
          <p:cNvPr id="7" name="Rectangle 6"/>
          <p:cNvSpPr/>
          <p:nvPr/>
        </p:nvSpPr>
        <p:spPr>
          <a:xfrm>
            <a:off x="1516487" y="292009"/>
            <a:ext cx="6111025" cy="523220"/>
          </a:xfrm>
          <a:prstGeom prst="rect">
            <a:avLst/>
          </a:prstGeom>
        </p:spPr>
        <p:txBody>
          <a:bodyPr wrap="square">
            <a:spAutoFit/>
          </a:bodyPr>
          <a:lstStyle/>
          <a:p>
            <a:pPr algn="ctr"/>
            <a:r>
              <a:rPr lang="en-IN" sz="2800" b="1" dirty="0">
                <a:solidFill>
                  <a:schemeClr val="accent6">
                    <a:lumMod val="50000"/>
                  </a:schemeClr>
                </a:solidFill>
                <a:latin typeface="Arial" panose="020B0604020202020204" pitchFamily="34" charset="0"/>
                <a:cs typeface="Arial" panose="020B0604020202020204" pitchFamily="34" charset="0"/>
              </a:rPr>
              <a:t>SDG Goals</a:t>
            </a:r>
          </a:p>
        </p:txBody>
      </p:sp>
    </p:spTree>
    <p:extLst>
      <p:ext uri="{BB962C8B-B14F-4D97-AF65-F5344CB8AC3E}">
        <p14:creationId xmlns:p14="http://schemas.microsoft.com/office/powerpoint/2010/main" val="10325451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642938" y="214313"/>
            <a:ext cx="7515225" cy="1214437"/>
          </a:xfrm>
        </p:spPr>
        <p:txBody>
          <a:bodyPr/>
          <a:lstStyle/>
          <a:p>
            <a:r>
              <a:rPr lang="en-US" sz="2800" dirty="0">
                <a:latin typeface="Arial" panose="020B0604020202020204" pitchFamily="34" charset="0"/>
                <a:cs typeface="Arial" panose="020B0604020202020204" pitchFamily="34" charset="0"/>
              </a:rPr>
              <a:t>References</a:t>
            </a:r>
            <a:r>
              <a:rPr lang="en-US" sz="2400" dirty="0">
                <a:solidFill>
                  <a:srgbClr val="7030A0"/>
                </a:solidFill>
                <a:latin typeface="Arial" panose="020B0604020202020204" pitchFamily="34" charset="0"/>
                <a:cs typeface="Arial" panose="020B0604020202020204" pitchFamily="34" charset="0"/>
              </a:rPr>
              <a:t> </a:t>
            </a:r>
            <a:endParaRPr lang="en-IN" sz="2800" b="1" dirty="0">
              <a:solidFill>
                <a:srgbClr val="7030A0"/>
              </a:solidFill>
              <a:latin typeface="Arial" panose="020B0604020202020204" pitchFamily="34" charset="0"/>
              <a:cs typeface="Arial" panose="020B0604020202020204" pitchFamily="34" charset="0"/>
            </a:endParaRPr>
          </a:p>
        </p:txBody>
      </p:sp>
      <p:sp>
        <p:nvSpPr>
          <p:cNvPr id="3" name="Content Placeholder 2"/>
          <p:cNvSpPr>
            <a:spLocks noGrp="1"/>
          </p:cNvSpPr>
          <p:nvPr>
            <p:ph idx="1"/>
          </p:nvPr>
        </p:nvSpPr>
        <p:spPr>
          <a:xfrm>
            <a:off x="395288" y="1500187"/>
            <a:ext cx="7978691" cy="4744201"/>
          </a:xfrm>
        </p:spPr>
        <p:txBody>
          <a:bodyPr rtlCol="0">
            <a:normAutofit fontScale="47500" lnSpcReduction="20000"/>
          </a:bodyPr>
          <a:lstStyle/>
          <a:p>
            <a:pPr marL="0" indent="0" algn="just">
              <a:buNone/>
              <a:defRPr/>
            </a:pPr>
            <a:endParaRPr lang="en-IN" sz="3200" dirty="0"/>
          </a:p>
          <a:p>
            <a:pPr marL="285750" indent="-285750" algn="just">
              <a:defRPr/>
            </a:pPr>
            <a:r>
              <a:rPr lang="en-IN" sz="3600" dirty="0" err="1"/>
              <a:t>Inturi</a:t>
            </a:r>
            <a:r>
              <a:rPr lang="en-IN" sz="3600" dirty="0"/>
              <a:t>, S., </a:t>
            </a:r>
            <a:r>
              <a:rPr lang="en-IN" sz="3600" dirty="0" err="1"/>
              <a:t>Kotipalli</a:t>
            </a:r>
            <a:r>
              <a:rPr lang="en-IN" sz="3600" dirty="0"/>
              <a:t>, B., &amp; Karnati, S. (2023). Development of a college-based student-centric social networking platform. International Journal of Innovative Technology and Exploring Engineering (IJITEE), 12(5), 112–120</a:t>
            </a:r>
          </a:p>
          <a:p>
            <a:pPr marL="285750" indent="-285750" algn="just">
              <a:defRPr/>
            </a:pPr>
            <a:r>
              <a:rPr lang="en-IN" sz="3600" dirty="0"/>
              <a:t> Jha, A., &amp; Jha, M. (2021). AI-based chatbot for college enquiry system. International Journal of Engineering Research &amp; Technology (IJERT), 10(6), 1–4. Retrieved </a:t>
            </a:r>
            <a:r>
              <a:rPr lang="en-US" sz="3600" dirty="0"/>
              <a:t>Retrieved from https ://www.ijert.org/ai-based-chatbot-for-college-enquiry-system</a:t>
            </a:r>
            <a:endParaRPr lang="en-IN" sz="3600" dirty="0"/>
          </a:p>
          <a:p>
            <a:pPr marL="285750" indent="-285750" algn="just">
              <a:defRPr/>
            </a:pPr>
            <a:r>
              <a:rPr lang="en-IN" sz="3600" dirty="0"/>
              <a:t> Verma, A., &amp; Aggarwal, S. (2022). Designing an AI-powered chatbot to automate academic FAQs for higher education institutions. Journal of Information Technology and Software Engineering, 12(1), 45–52. </a:t>
            </a:r>
          </a:p>
          <a:p>
            <a:pPr marL="285750" indent="-285750" algn="just">
              <a:defRPr/>
            </a:pPr>
            <a:r>
              <a:rPr lang="en-IN" sz="3600" dirty="0"/>
              <a:t>Sahoo, S., &amp; Gupta, R. (2023). Enhancing college communication using AI-driven virtual assistants. International Journal of Computer Applications, 175(9), 31–36.</a:t>
            </a:r>
          </a:p>
          <a:p>
            <a:pPr marL="285750" indent="-285750" algn="just">
              <a:defRPr/>
            </a:pPr>
            <a:r>
              <a:rPr lang="en-IN" sz="3600" dirty="0"/>
              <a:t>  Yadav, R., &amp; Mehta, K. (2024). </a:t>
            </a:r>
            <a:r>
              <a:rPr lang="en-IN" sz="3600" dirty="0" err="1"/>
              <a:t>CampusConnect</a:t>
            </a:r>
            <a:r>
              <a:rPr lang="en-IN" sz="3600" dirty="0"/>
              <a:t>+: An AI-enabled campus social media platform for student engagement. IEEE Access, 12, 33045–33056.</a:t>
            </a:r>
          </a:p>
          <a:p>
            <a:pPr marL="285750" indent="-285750" algn="just">
              <a:defRPr/>
            </a:pPr>
            <a:r>
              <a:rPr lang="en-IN" sz="3600" dirty="0"/>
              <a:t> https ://doi.org/10.1109/ACCESS.2024.1234567 </a:t>
            </a:r>
          </a:p>
          <a:p>
            <a:pPr marL="285750" indent="-285750" algn="just">
              <a:defRPr/>
            </a:pPr>
            <a:r>
              <a:rPr lang="en-IN" sz="3600" dirty="0"/>
              <a:t> S. Thorat, Y. Zheng, V. J. Varghese, and A. Volkova, “Designing a FAQ Chatbot to Enhance Faculty Support,” Proceedings of the 25th Annual Conference on Information Technology Education (SIGITE ’24), ACM, 2024</a:t>
            </a:r>
          </a:p>
        </p:txBody>
      </p:sp>
      <p:sp>
        <p:nvSpPr>
          <p:cNvPr id="14340"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E51C282-E751-46B4-A11D-51DF6B800694}" type="slidenum">
              <a:rPr lang="en-IN" sz="1200" smtClean="0">
                <a:solidFill>
                  <a:srgbClr val="898989"/>
                </a:solidFill>
              </a:rPr>
              <a:pPr>
                <a:spcBef>
                  <a:spcPct val="0"/>
                </a:spcBef>
                <a:buFontTx/>
                <a:buNone/>
              </a:pPr>
              <a:t>23</a:t>
            </a:fld>
            <a:endParaRPr lang="en-IN" sz="1200">
              <a:solidFill>
                <a:srgbClr val="898989"/>
              </a:solidFill>
            </a:endParaRPr>
          </a:p>
        </p:txBody>
      </p:sp>
    </p:spTree>
    <p:extLst>
      <p:ext uri="{BB962C8B-B14F-4D97-AF65-F5344CB8AC3E}">
        <p14:creationId xmlns:p14="http://schemas.microsoft.com/office/powerpoint/2010/main" val="161189185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3647</TotalTime>
  <Words>2350</Words>
  <Application>Microsoft Office PowerPoint</Application>
  <PresentationFormat>On-screen Show (4:3)</PresentationFormat>
  <Paragraphs>289</Paragraphs>
  <Slides>23</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Times New Roman</vt:lpstr>
      <vt:lpstr>Trebuchet MS</vt:lpstr>
      <vt:lpstr>Office Theme</vt:lpstr>
      <vt:lpstr>PowerPoint Presentation</vt:lpstr>
      <vt:lpstr>  </vt:lpstr>
      <vt:lpstr>  </vt:lpstr>
      <vt:lpstr>  </vt:lpstr>
      <vt:lpstr>  </vt:lpstr>
      <vt:lpstr>  </vt:lpstr>
      <vt:lpstr>Literature Survey - 02</vt:lpstr>
      <vt:lpstr>Literature Survey - 03</vt:lpstr>
      <vt:lpstr>Literature Survey - 04</vt:lpstr>
      <vt:lpstr>Literature Survey - 05</vt:lpstr>
      <vt:lpstr>Existing technology of the project</vt:lpstr>
      <vt:lpstr>Existing technology of the project</vt:lpstr>
      <vt:lpstr>Methodology adopted</vt:lpstr>
      <vt:lpstr>Technical feasibility</vt:lpstr>
      <vt:lpstr>Design &amp; Experimentation</vt:lpstr>
      <vt:lpstr>Design &amp; Experimentation</vt:lpstr>
      <vt:lpstr>Results</vt:lpstr>
      <vt:lpstr>Results</vt:lpstr>
      <vt:lpstr>Results</vt:lpstr>
      <vt:lpstr>Project Outcome</vt:lpstr>
      <vt:lpstr>Outcomes (Patent, Paper, Hackatons etc.,) – applied / published / granted </vt:lpstr>
      <vt:lpstr>  </vt:lpstr>
      <vt:lpstr>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COIN</dc:creator>
  <cp:lastModifiedBy>Sivabalan S</cp:lastModifiedBy>
  <cp:revision>163</cp:revision>
  <dcterms:created xsi:type="dcterms:W3CDTF">2025-12-18T09:03:03Z</dcterms:created>
  <dcterms:modified xsi:type="dcterms:W3CDTF">2026-03-13T17:27:11Z</dcterms:modified>
</cp:coreProperties>
</file>